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40"/>
  </p:notesMasterIdLst>
  <p:sldIdLst>
    <p:sldId id="256" r:id="rId3"/>
    <p:sldId id="257" r:id="rId4"/>
    <p:sldId id="258" r:id="rId5"/>
    <p:sldId id="261" r:id="rId6"/>
    <p:sldId id="304" r:id="rId7"/>
    <p:sldId id="305" r:id="rId8"/>
    <p:sldId id="325" r:id="rId9"/>
    <p:sldId id="306" r:id="rId10"/>
    <p:sldId id="262" r:id="rId11"/>
    <p:sldId id="263" r:id="rId12"/>
    <p:sldId id="307" r:id="rId13"/>
    <p:sldId id="308" r:id="rId14"/>
    <p:sldId id="310" r:id="rId15"/>
    <p:sldId id="309" r:id="rId16"/>
    <p:sldId id="311" r:id="rId17"/>
    <p:sldId id="312" r:id="rId18"/>
    <p:sldId id="313" r:id="rId19"/>
    <p:sldId id="314" r:id="rId20"/>
    <p:sldId id="265" r:id="rId21"/>
    <p:sldId id="267" r:id="rId22"/>
    <p:sldId id="266" r:id="rId23"/>
    <p:sldId id="316" r:id="rId24"/>
    <p:sldId id="315" r:id="rId25"/>
    <p:sldId id="269" r:id="rId26"/>
    <p:sldId id="317" r:id="rId27"/>
    <p:sldId id="318" r:id="rId28"/>
    <p:sldId id="270" r:id="rId29"/>
    <p:sldId id="268" r:id="rId30"/>
    <p:sldId id="271" r:id="rId31"/>
    <p:sldId id="319" r:id="rId32"/>
    <p:sldId id="321" r:id="rId33"/>
    <p:sldId id="320" r:id="rId34"/>
    <p:sldId id="322" r:id="rId35"/>
    <p:sldId id="290" r:id="rId36"/>
    <p:sldId id="292" r:id="rId37"/>
    <p:sldId id="289" r:id="rId38"/>
    <p:sldId id="274" r:id="rId39"/>
  </p:sldIdLst>
  <p:sldSz cx="9144000" cy="5143500" type="screen16x9"/>
  <p:notesSz cx="6858000" cy="9144000"/>
  <p:embeddedFontLst>
    <p:embeddedFont>
      <p:font typeface="Lora" pitchFamily="2" charset="0"/>
      <p:regular r:id="rId41"/>
      <p:bold r:id="rId42"/>
      <p:italic r:id="rId43"/>
      <p:boldItalic r:id="rId44"/>
    </p:embeddedFont>
    <p:embeddedFont>
      <p:font typeface="Quattrocento Sans" panose="020B0502050000020003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8DD53E-3C1A-42CA-A2B5-AB5CCA22CC6F}">
  <a:tblStyle styleId="{718DD53E-3C1A-42CA-A2B5-AB5CCA22CC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d1159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4d1159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4bbf6b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4bbf6b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B44B63E1-27B9-AF02-9C8A-94AAB6C6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3d80a90c7_0_1183:notes">
            <a:extLst>
              <a:ext uri="{FF2B5EF4-FFF2-40B4-BE49-F238E27FC236}">
                <a16:creationId xmlns:a16="http://schemas.microsoft.com/office/drawing/2014/main" id="{6ED82DA9-C514-EA05-A452-1582C7B3A8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3d80a90c7_0_1183:notes">
            <a:extLst>
              <a:ext uri="{FF2B5EF4-FFF2-40B4-BE49-F238E27FC236}">
                <a16:creationId xmlns:a16="http://schemas.microsoft.com/office/drawing/2014/main" id="{3EC6A948-160C-BFC7-6823-B0521CE75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590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B44B63E1-27B9-AF02-9C8A-94AAB6C6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3d80a90c7_0_1183:notes">
            <a:extLst>
              <a:ext uri="{FF2B5EF4-FFF2-40B4-BE49-F238E27FC236}">
                <a16:creationId xmlns:a16="http://schemas.microsoft.com/office/drawing/2014/main" id="{6ED82DA9-C514-EA05-A452-1582C7B3A8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3d80a90c7_0_1183:notes">
            <a:extLst>
              <a:ext uri="{FF2B5EF4-FFF2-40B4-BE49-F238E27FC236}">
                <a16:creationId xmlns:a16="http://schemas.microsoft.com/office/drawing/2014/main" id="{3EC6A948-160C-BFC7-6823-B0521CE75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085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3d80a90c7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3d80a90c7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3d80a90c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3d80a90c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95e74a2592_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95e74a2592_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95e74a2592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95e74a2592_2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95e74a2592_2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95e74a2592_2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95e74a2592_2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95e74a2592_2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95e74a2592_2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95e74a2592_2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95e74a2592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95e74a2592_2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3d80a90c7_0_1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43d80a90c7_0_1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3d80a90c7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3d80a90c7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3d80a90c7_0_1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43d80a90c7_0_1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DFF41F0B-B9D3-BD22-A3C7-D8395148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43d80a90c7_0_254:notes">
            <a:extLst>
              <a:ext uri="{FF2B5EF4-FFF2-40B4-BE49-F238E27FC236}">
                <a16:creationId xmlns:a16="http://schemas.microsoft.com/office/drawing/2014/main" id="{9A397093-EF89-4F9E-BA10-4B37FD00A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43d80a90c7_0_254:notes">
            <a:extLst>
              <a:ext uri="{FF2B5EF4-FFF2-40B4-BE49-F238E27FC236}">
                <a16:creationId xmlns:a16="http://schemas.microsoft.com/office/drawing/2014/main" id="{BE7A9A5B-12F3-BC21-3896-A227A4E21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241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219124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3d80a90c7_0_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43d80a90c7_0_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4bbf6b9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4bbf6b9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3d80a90c7_0_1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43d80a90c7_0_1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bbf6b9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4bbf6b9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C0A232D6-7B1A-D914-C3D6-72B1E406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bbf6b9c_0_54:notes">
            <a:extLst>
              <a:ext uri="{FF2B5EF4-FFF2-40B4-BE49-F238E27FC236}">
                <a16:creationId xmlns:a16="http://schemas.microsoft.com/office/drawing/2014/main" id="{DCF38F9B-5170-E2EC-1B02-AA2F2B203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4bbf6b9c_0_54:notes">
            <a:extLst>
              <a:ext uri="{FF2B5EF4-FFF2-40B4-BE49-F238E27FC236}">
                <a16:creationId xmlns:a16="http://schemas.microsoft.com/office/drawing/2014/main" id="{43343517-4939-95AC-EEBF-7271DAB0B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6398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827CB39E-C578-22C9-147C-FC1FC9D2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bbf6b9c_0_54:notes">
            <a:extLst>
              <a:ext uri="{FF2B5EF4-FFF2-40B4-BE49-F238E27FC236}">
                <a16:creationId xmlns:a16="http://schemas.microsoft.com/office/drawing/2014/main" id="{678EB1DC-8001-478C-74A3-8F220D6FD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4bbf6b9c_0_54:notes">
            <a:extLst>
              <a:ext uri="{FF2B5EF4-FFF2-40B4-BE49-F238E27FC236}">
                <a16:creationId xmlns:a16="http://schemas.microsoft.com/office/drawing/2014/main" id="{31D6EB46-5DA7-F894-C5DC-16ED8888F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6615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3d80a90c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3d80a90c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91dd459a26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91dd459a26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43d80a90c7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43d80a90c7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43d80a90c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43d80a90c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6025" y="39813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4288500" y="369780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rgbClr val="FFCD00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4650" y="2351350"/>
            <a:ext cx="3936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sz="2400" i="1">
                <a:latin typeface="Lora"/>
                <a:ea typeface="Lora"/>
                <a:cs typeface="Lora"/>
                <a:sym typeface="Lora"/>
              </a:defRPr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24;p4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latin typeface="Lora"/>
                <a:ea typeface="Lora"/>
                <a:cs typeface="Lora"/>
                <a:sym typeface="Lora"/>
              </a:rPr>
              <a:t>“</a:t>
            </a:r>
            <a:endParaRPr sz="36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34" name="Google Shape;3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924" y="950225"/>
            <a:ext cx="363000" cy="3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/>
        </p:nvSpPr>
        <p:spPr>
          <a:xfrm>
            <a:off x="3205150" y="149787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1;p6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6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924" y="950225"/>
            <a:ext cx="363000" cy="3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50" name="Google Shape;50;p7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Google Shape;51;p7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924" y="950225"/>
            <a:ext cx="363000" cy="3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8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8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924" y="950225"/>
            <a:ext cx="363000" cy="3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Font typeface="Lora"/>
              <a:buNone/>
              <a:defRPr sz="1400" i="1">
                <a:latin typeface="Lora"/>
                <a:ea typeface="Lora"/>
                <a:cs typeface="Lora"/>
                <a:sym typeface="Lora"/>
              </a:defRPr>
            </a:lvl1pPr>
          </a:lstStyle>
          <a:p>
            <a:endParaRPr/>
          </a:p>
        </p:txBody>
      </p:sp>
      <p:cxnSp>
        <p:nvCxnSpPr>
          <p:cNvPr id="64" name="Google Shape;64;p9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9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0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0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79" name="Google Shape;79;p13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3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rgbClr val="FFCD00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endParaRPr/>
          </a:p>
        </p:txBody>
      </p:sp>
      <p:cxnSp>
        <p:nvCxnSpPr>
          <p:cNvPr id="83" name="Google Shape;83;p14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4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86" name="Google Shape;86;p14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p21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21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81250" y="937117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1381250" y="937117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 rtl="0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6" r:id="rId3"/>
    <p:sldLayoutId id="2147483667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ctrTitle"/>
          </p:nvPr>
        </p:nvSpPr>
        <p:spPr>
          <a:xfrm>
            <a:off x="369150" y="1015350"/>
            <a:ext cx="84057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highlight>
                  <a:srgbClr val="FFCD00"/>
                </a:highlight>
              </a:rPr>
              <a:t>Presentación de resultados:</a:t>
            </a:r>
            <a:r>
              <a:rPr lang="en" sz="3000" dirty="0">
                <a:solidFill>
                  <a:schemeClr val="dk1"/>
                </a:solidFill>
              </a:rPr>
              <a:t> prueba Científico de datos SemiSenior</a:t>
            </a:r>
            <a:endParaRPr sz="3000" dirty="0"/>
          </a:p>
        </p:txBody>
      </p:sp>
      <p:sp>
        <p:nvSpPr>
          <p:cNvPr id="140" name="Google Shape;140;p23"/>
          <p:cNvSpPr txBox="1"/>
          <p:nvPr/>
        </p:nvSpPr>
        <p:spPr>
          <a:xfrm>
            <a:off x="844375" y="3754582"/>
            <a:ext cx="3493001" cy="35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Candidato</a:t>
            </a:r>
            <a:endParaRPr sz="1100" b="1" dirty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4806625" y="3825800"/>
            <a:ext cx="3658200" cy="476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Quattrocento Sans"/>
                <a:ea typeface="Quattrocento Sans"/>
                <a:cs typeface="Quattrocento Sans"/>
                <a:sym typeface="Quattrocento Sans"/>
              </a:rPr>
              <a:t>Alejandro Montenegro Taborda</a:t>
            </a:r>
            <a:endParaRPr sz="11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3575" y="4725600"/>
            <a:ext cx="17490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Quattrocento Sans"/>
                <a:ea typeface="Quattrocento Sans"/>
                <a:cs typeface="Quattrocento Sans"/>
                <a:sym typeface="Quattrocento Sans"/>
              </a:rPr>
              <a:t>05 de </a:t>
            </a:r>
            <a:r>
              <a:rPr lang="en" sz="1100" b="1" dirty="0"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mayo</a:t>
            </a:r>
            <a:r>
              <a:rPr lang="en" sz="1100" b="1" dirty="0">
                <a:latin typeface="Quattrocento Sans"/>
                <a:ea typeface="Quattrocento Sans"/>
                <a:cs typeface="Quattrocento Sans"/>
                <a:sym typeface="Quattrocento Sans"/>
              </a:rPr>
              <a:t> de 2024</a:t>
            </a:r>
            <a:endParaRPr sz="11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Propósitos </a:t>
            </a:r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y alcances de la presentación</a:t>
            </a:r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Propósitos</a:t>
            </a:r>
            <a:endParaRPr>
              <a:highlight>
                <a:srgbClr val="FFCD00"/>
              </a:highlight>
            </a:endParaRPr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600"/>
              </a:spcBef>
              <a:spcAft>
                <a:spcPts val="0"/>
              </a:spcAft>
              <a:buSzPts val="1800"/>
              <a:buChar char="◉"/>
            </a:pPr>
            <a:r>
              <a:rPr lang="en" sz="1800" dirty="0"/>
              <a:t>Presentar la propuesta de algoritmo clasificatorio para la prueba de Científico de datos.</a:t>
            </a:r>
            <a:endParaRPr sz="1800" dirty="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Mostrar la etapa de diseño desde una perspectiva de Desarrollador.</a:t>
            </a:r>
            <a:endParaRPr sz="1800" dirty="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Evidenciar las etapas del proceso de diseño e implementación de algoritmos.</a:t>
            </a:r>
            <a:endParaRPr sz="1800" dirty="0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◉"/>
            </a:pPr>
            <a:r>
              <a:rPr lang="en" sz="1800" dirty="0"/>
              <a:t>Provocar en el público reacciones, comentarios y/o sugerencias que puedan aportar a la construcción y ejecución del trabajo realizado.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Contextualización</a:t>
            </a:r>
            <a:endParaRPr dirty="0"/>
          </a:p>
        </p:txBody>
      </p:sp>
      <p:sp>
        <p:nvSpPr>
          <p:cNvPr id="244" name="Google Shape;244;p28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Información sobre el problema planteado</a:t>
            </a:r>
            <a:endParaRPr dirty="0"/>
          </a:p>
        </p:txBody>
      </p:sp>
      <p:sp>
        <p:nvSpPr>
          <p:cNvPr id="245" name="Google Shape;245;p2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C5F77-2B4A-673D-E09C-B7966D83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Caso Compañía 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C150E-B204-7D5D-C569-96A2A4B01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810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kumimoji="0" lang="es-E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D00"/>
                </a:highlight>
                <a:uLnTx/>
                <a:uFillTx/>
                <a:latin typeface="Quattrocento Sans" panose="020B0502050000020003" pitchFamily="34" charset="0"/>
                <a:sym typeface="Lora"/>
              </a:rPr>
              <a:t>Problema:</a:t>
            </a:r>
            <a:r>
              <a:rPr lang="es-ES" sz="1800" b="1" dirty="0">
                <a:latin typeface="Quattrocento Sans" panose="020B0502050000020003" pitchFamily="34" charset="0"/>
              </a:rPr>
              <a:t> </a:t>
            </a:r>
            <a:r>
              <a:rPr lang="es-ES" sz="1800" dirty="0"/>
              <a:t>Ventas efectivas bajas (tarjetas de crédito)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</a:pPr>
            <a:r>
              <a:rPr kumimoji="0" lang="es-E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D00"/>
                </a:highlight>
                <a:uLnTx/>
                <a:uFillTx/>
                <a:latin typeface="Quattrocento Sans" panose="020B0502050000020003" pitchFamily="34" charset="0"/>
                <a:sym typeface="Lora"/>
              </a:rPr>
              <a:t>Interés:</a:t>
            </a:r>
            <a:r>
              <a:rPr lang="es-ES" sz="1800" b="1" dirty="0"/>
              <a:t> </a:t>
            </a:r>
            <a:r>
              <a:rPr lang="es-ES" sz="1800" dirty="0"/>
              <a:t>Incrementar y optimizar el número de ventas efectivas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</a:pPr>
            <a:r>
              <a:rPr kumimoji="0" lang="es-E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D00"/>
                </a:highlight>
                <a:uLnTx/>
                <a:uFillTx/>
                <a:latin typeface="Quattrocento Sans" panose="020B0502050000020003" pitchFamily="34" charset="0"/>
                <a:sym typeface="Lora"/>
              </a:rPr>
              <a:t>Propuesta:</a:t>
            </a:r>
            <a:r>
              <a:rPr lang="es-ES" sz="1800" b="1" dirty="0"/>
              <a:t> </a:t>
            </a:r>
            <a:r>
              <a:rPr lang="es-ES" sz="1800" dirty="0"/>
              <a:t>Creación de un modelo de predicción de clientes con mayores probabilidades de aceptar una tarjeta de crédito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b="1" dirty="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Estado actual e impresión de resultados.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CD6CC9-F802-2181-37D2-9EE24A2A04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4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77AEC303-BEAD-7456-D739-2E4A0F48D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>
            <a:extLst>
              <a:ext uri="{FF2B5EF4-FFF2-40B4-BE49-F238E27FC236}">
                <a16:creationId xmlns:a16="http://schemas.microsoft.com/office/drawing/2014/main" id="{57299A07-04E4-F9F0-FA05-94F8CE110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Conjunto de datos (cat.)</a:t>
            </a:r>
            <a:endParaRPr dirty="0"/>
          </a:p>
        </p:txBody>
      </p:sp>
      <p:sp>
        <p:nvSpPr>
          <p:cNvPr id="288" name="Google Shape;288;p34">
            <a:extLst>
              <a:ext uri="{FF2B5EF4-FFF2-40B4-BE49-F238E27FC236}">
                <a16:creationId xmlns:a16="http://schemas.microsoft.com/office/drawing/2014/main" id="{1A7FD886-A27C-BBC6-ACF4-7E5E107DE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dirty="0" err="1"/>
              <a:t>Tipo_Trabajo</a:t>
            </a:r>
            <a:r>
              <a:rPr lang="es-ES" sz="1200" dirty="0"/>
              <a:t> (categórica): Trabajo ejercido por el cliente.</a:t>
            </a:r>
          </a:p>
          <a:p>
            <a:r>
              <a:rPr lang="es-ES" sz="1200" dirty="0" err="1"/>
              <a:t>Estado_Civil</a:t>
            </a:r>
            <a:r>
              <a:rPr lang="es-ES" sz="1200" dirty="0"/>
              <a:t> (categórica): Estado civil del cliente.</a:t>
            </a:r>
          </a:p>
          <a:p>
            <a:r>
              <a:rPr lang="es-ES" sz="1200" dirty="0" err="1"/>
              <a:t>Educacion</a:t>
            </a:r>
            <a:r>
              <a:rPr lang="es-ES" sz="1200" dirty="0"/>
              <a:t> (categórica): Nivel educativo alcanzado por el cliente. datos desconocidos</a:t>
            </a:r>
          </a:p>
          <a:p>
            <a:r>
              <a:rPr lang="es-ES" sz="1200" dirty="0"/>
              <a:t>mora (categórica): Informa si el cliente se encuentra en mora. </a:t>
            </a:r>
          </a:p>
          <a:p>
            <a:r>
              <a:rPr lang="es-ES" sz="1200" dirty="0"/>
              <a:t>Vivienda (categórica): Informa si el cliente cuenta con vivienda propia.</a:t>
            </a:r>
          </a:p>
          <a:p>
            <a:r>
              <a:rPr lang="es-ES" sz="1200" dirty="0"/>
              <a:t>Consumo (categórica): Informa si el cliente presenta consumo. </a:t>
            </a:r>
          </a:p>
          <a:p>
            <a:r>
              <a:rPr lang="es-ES" sz="1200" dirty="0"/>
              <a:t>Contacto (categórica): Tipo de medio por el cual el cliente es contactado.</a:t>
            </a:r>
          </a:p>
        </p:txBody>
      </p:sp>
      <p:sp>
        <p:nvSpPr>
          <p:cNvPr id="289" name="Google Shape;289;p34">
            <a:extLst>
              <a:ext uri="{FF2B5EF4-FFF2-40B4-BE49-F238E27FC236}">
                <a16:creationId xmlns:a16="http://schemas.microsoft.com/office/drawing/2014/main" id="{9C1B70E7-E5E0-AA6B-16A2-B7247DDCD5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dirty="0"/>
              <a:t>Mes (categórica): Mes del contacto.</a:t>
            </a:r>
          </a:p>
          <a:p>
            <a:r>
              <a:rPr lang="es-ES" sz="1200" dirty="0"/>
              <a:t>Dia (categórica): Día del contacto.</a:t>
            </a:r>
          </a:p>
          <a:p>
            <a:r>
              <a:rPr lang="es-ES" sz="1200" dirty="0"/>
              <a:t>Campana (categórica): Número de identificación de la campaña.</a:t>
            </a:r>
          </a:p>
          <a:p>
            <a:r>
              <a:rPr lang="es-ES" sz="1200" dirty="0" err="1"/>
              <a:t>Resultado_Anterior</a:t>
            </a:r>
            <a:r>
              <a:rPr lang="es-ES" sz="1200" dirty="0"/>
              <a:t> (categórica): Resultado obtenido en la campaña previa.</a:t>
            </a:r>
          </a:p>
          <a:p>
            <a:r>
              <a:rPr lang="es-ES" sz="1200" dirty="0" err="1"/>
              <a:t>nr_employed</a:t>
            </a:r>
            <a:r>
              <a:rPr lang="es-ES" sz="1200" dirty="0"/>
              <a:t> (categórica): Identificación del agente por el cual fue contactado el cliente.</a:t>
            </a:r>
          </a:p>
          <a:p>
            <a:r>
              <a:rPr lang="es-ES" sz="1200" dirty="0"/>
              <a:t>y (categórica): Variable objetivo que indica si el cliente ha aceptado una tarjeta de crédito.</a:t>
            </a:r>
            <a:endParaRPr lang="es-CO" sz="1200" dirty="0"/>
          </a:p>
        </p:txBody>
      </p:sp>
      <p:sp>
        <p:nvSpPr>
          <p:cNvPr id="290" name="Google Shape;290;p34">
            <a:extLst>
              <a:ext uri="{FF2B5EF4-FFF2-40B4-BE49-F238E27FC236}">
                <a16:creationId xmlns:a16="http://schemas.microsoft.com/office/drawing/2014/main" id="{E2A89F83-A7A9-20C8-7EA9-4C0898D10F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005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77AEC303-BEAD-7456-D739-2E4A0F48D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>
            <a:extLst>
              <a:ext uri="{FF2B5EF4-FFF2-40B4-BE49-F238E27FC236}">
                <a16:creationId xmlns:a16="http://schemas.microsoft.com/office/drawing/2014/main" id="{57299A07-04E4-F9F0-FA05-94F8CE110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Conjunto de datos (núm.)</a:t>
            </a:r>
            <a:endParaRPr dirty="0"/>
          </a:p>
        </p:txBody>
      </p:sp>
      <p:sp>
        <p:nvSpPr>
          <p:cNvPr id="288" name="Google Shape;288;p34">
            <a:extLst>
              <a:ext uri="{FF2B5EF4-FFF2-40B4-BE49-F238E27FC236}">
                <a16:creationId xmlns:a16="http://schemas.microsoft.com/office/drawing/2014/main" id="{1A7FD886-A27C-BBC6-ACF4-7E5E107DE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dirty="0"/>
              <a:t>ID (</a:t>
            </a:r>
            <a:r>
              <a:rPr lang="es-ES" sz="1200" dirty="0" err="1"/>
              <a:t>númerica</a:t>
            </a:r>
            <a:r>
              <a:rPr lang="es-ES" sz="1200" dirty="0"/>
              <a:t>): Identificación del cliente.</a:t>
            </a:r>
          </a:p>
          <a:p>
            <a:r>
              <a:rPr lang="es-ES" sz="1200" dirty="0"/>
              <a:t>Edad (</a:t>
            </a:r>
            <a:r>
              <a:rPr lang="es-ES" sz="1200" dirty="0" err="1"/>
              <a:t>númerica</a:t>
            </a:r>
            <a:r>
              <a:rPr lang="es-ES" sz="1200" dirty="0"/>
              <a:t>): Edad del cliente.</a:t>
            </a:r>
          </a:p>
          <a:p>
            <a:r>
              <a:rPr lang="es-ES" sz="1200" dirty="0" err="1"/>
              <a:t>Dias_Ultima_Camp</a:t>
            </a:r>
            <a:r>
              <a:rPr lang="es-ES" sz="1200" dirty="0"/>
              <a:t> (</a:t>
            </a:r>
            <a:r>
              <a:rPr lang="es-ES" sz="1200" dirty="0" err="1"/>
              <a:t>númerica</a:t>
            </a:r>
            <a:r>
              <a:rPr lang="es-ES" sz="1200" dirty="0"/>
              <a:t>): Días transcurridos desde el último contacto en otra campaña. </a:t>
            </a:r>
            <a:r>
              <a:rPr lang="es-ES" sz="1200" dirty="0" err="1"/>
              <a:t>outliers</a:t>
            </a:r>
            <a:endParaRPr lang="es-ES" sz="1200" dirty="0"/>
          </a:p>
          <a:p>
            <a:r>
              <a:rPr lang="es-ES" sz="1200" dirty="0" err="1"/>
              <a:t>No_Contactos</a:t>
            </a:r>
            <a:r>
              <a:rPr lang="es-ES" sz="1200" dirty="0"/>
              <a:t> (</a:t>
            </a:r>
            <a:r>
              <a:rPr lang="es-ES" sz="1200" dirty="0" err="1"/>
              <a:t>númerica</a:t>
            </a:r>
            <a:r>
              <a:rPr lang="es-ES" sz="1200" dirty="0"/>
              <a:t>): Número de veces que se ha contactado al cliente.</a:t>
            </a:r>
          </a:p>
          <a:p>
            <a:r>
              <a:rPr lang="es-ES" sz="1200" dirty="0" err="1"/>
              <a:t>emp_var_rate</a:t>
            </a:r>
            <a:r>
              <a:rPr lang="es-ES" sz="1200" dirty="0"/>
              <a:t> (</a:t>
            </a:r>
            <a:r>
              <a:rPr lang="es-ES" sz="1200" dirty="0" err="1"/>
              <a:t>númerica</a:t>
            </a:r>
            <a:r>
              <a:rPr lang="es-ES" sz="1200" dirty="0"/>
              <a:t>): (Tasa de variación del empleo)`: Este indicador mide la estabilidad del empleo del cliente. </a:t>
            </a:r>
          </a:p>
          <a:p>
            <a:r>
              <a:rPr lang="es-ES" sz="1200" dirty="0" err="1"/>
              <a:t>cons_price_idx</a:t>
            </a:r>
            <a:r>
              <a:rPr lang="es-ES" sz="1200" dirty="0"/>
              <a:t> (</a:t>
            </a:r>
            <a:r>
              <a:rPr lang="es-ES" sz="1200" dirty="0" err="1"/>
              <a:t>númerica</a:t>
            </a:r>
            <a:r>
              <a:rPr lang="es-ES" sz="1200" dirty="0"/>
              <a:t>): el índice de precios al consumidor es un indicador que mide el nivel de vida del cliente.</a:t>
            </a:r>
          </a:p>
        </p:txBody>
      </p:sp>
      <p:sp>
        <p:nvSpPr>
          <p:cNvPr id="289" name="Google Shape;289;p34">
            <a:extLst>
              <a:ext uri="{FF2B5EF4-FFF2-40B4-BE49-F238E27FC236}">
                <a16:creationId xmlns:a16="http://schemas.microsoft.com/office/drawing/2014/main" id="{9C1B70E7-E5E0-AA6B-16A2-B7247DDCD5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200" dirty="0" err="1"/>
              <a:t>cons_conf_idx</a:t>
            </a:r>
            <a:r>
              <a:rPr lang="es-ES" sz="1200" dirty="0"/>
              <a:t> (</a:t>
            </a:r>
            <a:r>
              <a:rPr lang="es-ES" sz="1200" dirty="0" err="1"/>
              <a:t>númerica</a:t>
            </a:r>
            <a:r>
              <a:rPr lang="es-ES" sz="1200" dirty="0"/>
              <a:t>): El índice de confianza del consumidor es un indicador que mide el grado de optimismo que los consumidores sienten sobre el estado general de la economía.</a:t>
            </a:r>
          </a:p>
          <a:p>
            <a:r>
              <a:rPr lang="es-ES" sz="1200" dirty="0"/>
              <a:t>euribor3m (</a:t>
            </a:r>
            <a:r>
              <a:rPr lang="es-ES" sz="1200" dirty="0" err="1"/>
              <a:t>númerica</a:t>
            </a:r>
            <a:r>
              <a:rPr lang="es-ES" sz="1200" dirty="0"/>
              <a:t>): La tasa Euribor a 3 meses es un indicador de la tasa de interés a la que los bancos se prestan dinero entre sí a corto plazo.</a:t>
            </a:r>
          </a:p>
        </p:txBody>
      </p:sp>
      <p:sp>
        <p:nvSpPr>
          <p:cNvPr id="290" name="Google Shape;290;p34">
            <a:extLst>
              <a:ext uri="{FF2B5EF4-FFF2-40B4-BE49-F238E27FC236}">
                <a16:creationId xmlns:a16="http://schemas.microsoft.com/office/drawing/2014/main" id="{E2A89F83-A7A9-20C8-7EA9-4C0898D10F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252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3CB0FD8-9523-40EE-9D7B-91652F4356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Google Shape;250;p29">
            <a:extLst>
              <a:ext uri="{FF2B5EF4-FFF2-40B4-BE49-F238E27FC236}">
                <a16:creationId xmlns:a16="http://schemas.microsoft.com/office/drawing/2014/main" id="{39131A8D-C308-F021-03C2-2C6524653853}"/>
              </a:ext>
            </a:extLst>
          </p:cNvPr>
          <p:cNvSpPr txBox="1">
            <a:spLocks/>
          </p:cNvSpPr>
          <p:nvPr/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s-ES" sz="2400" i="1" dirty="0">
                <a:latin typeface="Lora" pitchFamily="2" charset="0"/>
              </a:rPr>
              <a:t>Pero antes…</a:t>
            </a:r>
          </a:p>
        </p:txBody>
      </p:sp>
    </p:spTree>
    <p:extLst>
      <p:ext uri="{BB962C8B-B14F-4D97-AF65-F5344CB8AC3E}">
        <p14:creationId xmlns:p14="http://schemas.microsoft.com/office/powerpoint/2010/main" val="40469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La arquitectura es agnóstica a la tecnología</a:t>
            </a:r>
            <a:endParaRPr dirty="0"/>
          </a:p>
        </p:txBody>
      </p:sp>
      <p:sp>
        <p:nvSpPr>
          <p:cNvPr id="251" name="Google Shape;251;p29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Etapa de diseño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Diseño de la arquitectura</a:t>
            </a:r>
            <a:endParaRPr dirty="0"/>
          </a:p>
        </p:txBody>
      </p:sp>
      <p:sp>
        <p:nvSpPr>
          <p:cNvPr id="258" name="Google Shape;258;p3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6EF8-12BE-330E-AACA-8FC02222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FBBE7-C6F3-60C0-A0F4-9AE74591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Aspectos tenidos en cuenta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968843-708F-F312-7B2C-D5B01A2FC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810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D00"/>
                </a:highlight>
                <a:uLnTx/>
                <a:uFillTx/>
                <a:latin typeface="Quattrocento Sans" panose="020B0502050000020003" pitchFamily="34" charset="0"/>
                <a:sym typeface="Lora"/>
              </a:rPr>
              <a:t>POO y Entornos virtuales:</a:t>
            </a:r>
            <a:r>
              <a:rPr lang="es-ES" sz="2000" b="1" dirty="0">
                <a:latin typeface="Quattrocento Sans" panose="020B0502050000020003" pitchFamily="34" charset="0"/>
              </a:rPr>
              <a:t> </a:t>
            </a:r>
            <a:r>
              <a:rPr lang="es-ES" sz="2000" dirty="0"/>
              <a:t>Diseño pensado en algunas oportunidades de mejora observadas.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D00"/>
                </a:highlight>
                <a:uLnTx/>
                <a:uFillTx/>
                <a:latin typeface="Quattrocento Sans" panose="020B0502050000020003" pitchFamily="34" charset="0"/>
                <a:sym typeface="Lora"/>
              </a:rPr>
              <a:t>Infraestructura en la nube:</a:t>
            </a:r>
            <a:r>
              <a:rPr lang="es-ES" sz="2000" b="1" dirty="0"/>
              <a:t> </a:t>
            </a:r>
            <a:r>
              <a:rPr lang="es-ES" sz="2000" dirty="0"/>
              <a:t>Optimización pensada en infraestructura de la nube (cobro por procesos).</a:t>
            </a: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CD00"/>
                </a:highlight>
                <a:uLnTx/>
                <a:uFillTx/>
                <a:latin typeface="Quattrocento Sans" panose="020B0502050000020003" pitchFamily="34" charset="0"/>
                <a:sym typeface="Lora"/>
              </a:rPr>
              <a:t>PEP8 y seguridad:</a:t>
            </a:r>
            <a:r>
              <a:rPr lang="es-ES" sz="2000" b="1" dirty="0"/>
              <a:t> </a:t>
            </a:r>
            <a:r>
              <a:rPr lang="es-ES" sz="2000" dirty="0"/>
              <a:t>Implementación usando buenas prácticas (internacionales).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E6A35C-26DC-E7AC-CA30-6B1363323A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91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AD59-293B-1E92-C506-F9673E89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F9BBE0F-DF2A-695A-6AA9-2CDF4EAAF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Google Shape;250;p29">
            <a:extLst>
              <a:ext uri="{FF2B5EF4-FFF2-40B4-BE49-F238E27FC236}">
                <a16:creationId xmlns:a16="http://schemas.microsoft.com/office/drawing/2014/main" id="{59A0B4B3-C082-6972-CC9A-EC7BF9986E8E}"/>
              </a:ext>
            </a:extLst>
          </p:cNvPr>
          <p:cNvSpPr txBox="1">
            <a:spLocks/>
          </p:cNvSpPr>
          <p:nvPr/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s-ES" sz="2400" i="1" dirty="0">
                <a:latin typeface="Lora" pitchFamily="2" charset="0"/>
              </a:rPr>
              <a:t>Ahora sí </a:t>
            </a:r>
          </a:p>
          <a:p>
            <a:pPr algn="ctr">
              <a:spcBef>
                <a:spcPts val="600"/>
              </a:spcBef>
            </a:pPr>
            <a:r>
              <a:rPr lang="es-ES" sz="2400" i="1" dirty="0">
                <a:latin typeface="Lora" pitchFamily="2" charset="0"/>
              </a:rPr>
              <a:t>¡Empecemos!</a:t>
            </a:r>
          </a:p>
        </p:txBody>
      </p:sp>
    </p:spTree>
    <p:extLst>
      <p:ext uri="{BB962C8B-B14F-4D97-AF65-F5344CB8AC3E}">
        <p14:creationId xmlns:p14="http://schemas.microsoft.com/office/powerpoint/2010/main" val="2528128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Procesos llevados a cabo</a:t>
            </a:r>
            <a:endParaRPr dirty="0"/>
          </a:p>
        </p:txBody>
      </p:sp>
      <p:sp>
        <p:nvSpPr>
          <p:cNvPr id="293" name="Google Shape;293;p4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94" name="Google Shape;294;p41"/>
          <p:cNvSpPr/>
          <p:nvPr/>
        </p:nvSpPr>
        <p:spPr>
          <a:xfrm>
            <a:off x="2145409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 2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41"/>
          <p:cNvSpPr/>
          <p:nvPr/>
        </p:nvSpPr>
        <p:spPr>
          <a:xfrm>
            <a:off x="605804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Quattrocento Sans"/>
                <a:ea typeface="Quattrocento Sans"/>
                <a:cs typeface="Quattrocento Sans"/>
                <a:sym typeface="Quattrocento Sans"/>
              </a:rPr>
              <a:t>Etapa 1</a:t>
            </a:r>
            <a:endParaRPr sz="1200" i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41"/>
          <p:cNvSpPr/>
          <p:nvPr/>
        </p:nvSpPr>
        <p:spPr>
          <a:xfrm>
            <a:off x="5196490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 4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7" name="Google Shape;297;p41"/>
          <p:cNvSpPr/>
          <p:nvPr/>
        </p:nvSpPr>
        <p:spPr>
          <a:xfrm>
            <a:off x="6736096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 5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41"/>
          <p:cNvSpPr/>
          <p:nvPr/>
        </p:nvSpPr>
        <p:spPr>
          <a:xfrm>
            <a:off x="3685015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 3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Descripción general</a:t>
            </a:r>
            <a:endParaRPr dirty="0"/>
          </a:p>
        </p:txBody>
      </p:sp>
      <p:sp>
        <p:nvSpPr>
          <p:cNvPr id="304" name="Google Shape;304;p4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05" name="Google Shape;305;p42"/>
          <p:cNvSpPr/>
          <p:nvPr/>
        </p:nvSpPr>
        <p:spPr>
          <a:xfrm>
            <a:off x="2145409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6" name="Google Shape;306;p42"/>
          <p:cNvSpPr/>
          <p:nvPr/>
        </p:nvSpPr>
        <p:spPr>
          <a:xfrm>
            <a:off x="605804" y="1719625"/>
            <a:ext cx="1802100" cy="1802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Quattrocento Sans"/>
                <a:ea typeface="Quattrocento Sans"/>
                <a:cs typeface="Quattrocento Sans"/>
                <a:sym typeface="Quattrocento Sans"/>
              </a:rPr>
              <a:t>Limpieza de datos</a:t>
            </a:r>
            <a:endParaRPr sz="1200" i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7" name="Google Shape;307;p42"/>
          <p:cNvSpPr/>
          <p:nvPr/>
        </p:nvSpPr>
        <p:spPr>
          <a:xfrm>
            <a:off x="5196490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4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8" name="Google Shape;308;p42"/>
          <p:cNvSpPr/>
          <p:nvPr/>
        </p:nvSpPr>
        <p:spPr>
          <a:xfrm>
            <a:off x="6736096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9" name="Google Shape;309;p42"/>
          <p:cNvSpPr/>
          <p:nvPr/>
        </p:nvSpPr>
        <p:spPr>
          <a:xfrm>
            <a:off x="3685015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Descripción general</a:t>
            </a:r>
            <a:endParaRPr dirty="0"/>
          </a:p>
        </p:txBody>
      </p:sp>
      <p:sp>
        <p:nvSpPr>
          <p:cNvPr id="317" name="Google Shape;317;p4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18" name="Google Shape;318;p43"/>
          <p:cNvSpPr/>
          <p:nvPr/>
        </p:nvSpPr>
        <p:spPr>
          <a:xfrm>
            <a:off x="2145409" y="1719625"/>
            <a:ext cx="1802100" cy="1802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EDA</a:t>
            </a:r>
            <a:endParaRPr sz="18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9" name="Google Shape;319;p43"/>
          <p:cNvSpPr/>
          <p:nvPr/>
        </p:nvSpPr>
        <p:spPr>
          <a:xfrm>
            <a:off x="605804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 1</a:t>
            </a:r>
            <a:endParaRPr sz="1200" i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0" name="Google Shape;320;p43"/>
          <p:cNvSpPr/>
          <p:nvPr/>
        </p:nvSpPr>
        <p:spPr>
          <a:xfrm>
            <a:off x="5196490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4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1" name="Google Shape;321;p43"/>
          <p:cNvSpPr/>
          <p:nvPr/>
        </p:nvSpPr>
        <p:spPr>
          <a:xfrm>
            <a:off x="6736096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3685015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Descripción general</a:t>
            </a:r>
            <a:endParaRPr dirty="0"/>
          </a:p>
        </p:txBody>
      </p:sp>
      <p:sp>
        <p:nvSpPr>
          <p:cNvPr id="330" name="Google Shape;330;p4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31" name="Google Shape;331;p44"/>
          <p:cNvSpPr/>
          <p:nvPr/>
        </p:nvSpPr>
        <p:spPr>
          <a:xfrm>
            <a:off x="2145409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2" name="Google Shape;332;p44"/>
          <p:cNvSpPr/>
          <p:nvPr/>
        </p:nvSpPr>
        <p:spPr>
          <a:xfrm>
            <a:off x="605804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 1</a:t>
            </a:r>
            <a:endParaRPr sz="1200" i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3" name="Google Shape;333;p44"/>
          <p:cNvSpPr/>
          <p:nvPr/>
        </p:nvSpPr>
        <p:spPr>
          <a:xfrm>
            <a:off x="5196490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4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4" name="Google Shape;334;p44"/>
          <p:cNvSpPr/>
          <p:nvPr/>
        </p:nvSpPr>
        <p:spPr>
          <a:xfrm>
            <a:off x="6736096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3685015" y="1719625"/>
            <a:ext cx="1802100" cy="1802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Preproce-samiento</a:t>
            </a:r>
            <a:endParaRPr sz="1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Descripción general</a:t>
            </a:r>
            <a:endParaRPr dirty="0"/>
          </a:p>
        </p:txBody>
      </p:sp>
      <p:sp>
        <p:nvSpPr>
          <p:cNvPr id="343" name="Google Shape;343;p4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44" name="Google Shape;344;p45"/>
          <p:cNvSpPr/>
          <p:nvPr/>
        </p:nvSpPr>
        <p:spPr>
          <a:xfrm>
            <a:off x="2145409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5" name="Google Shape;345;p45"/>
          <p:cNvSpPr/>
          <p:nvPr/>
        </p:nvSpPr>
        <p:spPr>
          <a:xfrm>
            <a:off x="605804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 1</a:t>
            </a:r>
            <a:endParaRPr sz="1200" i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6" name="Google Shape;346;p45"/>
          <p:cNvSpPr/>
          <p:nvPr/>
        </p:nvSpPr>
        <p:spPr>
          <a:xfrm>
            <a:off x="5196490" y="1719625"/>
            <a:ext cx="1802100" cy="1802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</a:t>
            </a:r>
            <a:endParaRPr sz="1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45"/>
          <p:cNvSpPr/>
          <p:nvPr/>
        </p:nvSpPr>
        <p:spPr>
          <a:xfrm>
            <a:off x="6736096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8" name="Google Shape;348;p45"/>
          <p:cNvSpPr/>
          <p:nvPr/>
        </p:nvSpPr>
        <p:spPr>
          <a:xfrm>
            <a:off x="3685015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>
            <a:spLocks noGrp="1"/>
          </p:cNvSpPr>
          <p:nvPr>
            <p:ph type="title"/>
          </p:nvPr>
        </p:nvSpPr>
        <p:spPr>
          <a:xfrm>
            <a:off x="1381250" y="937125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Descripción general</a:t>
            </a:r>
            <a:endParaRPr dirty="0"/>
          </a:p>
        </p:txBody>
      </p:sp>
      <p:sp>
        <p:nvSpPr>
          <p:cNvPr id="356" name="Google Shape;356;p4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57" name="Google Shape;357;p46"/>
          <p:cNvSpPr/>
          <p:nvPr/>
        </p:nvSpPr>
        <p:spPr>
          <a:xfrm>
            <a:off x="2145409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</a:t>
            </a:r>
            <a:endParaRPr sz="18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8" name="Google Shape;358;p46"/>
          <p:cNvSpPr/>
          <p:nvPr/>
        </p:nvSpPr>
        <p:spPr>
          <a:xfrm>
            <a:off x="605804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 1</a:t>
            </a:r>
            <a:endParaRPr sz="1200" i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9" name="Google Shape;359;p46"/>
          <p:cNvSpPr/>
          <p:nvPr/>
        </p:nvSpPr>
        <p:spPr>
          <a:xfrm>
            <a:off x="5196490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4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0" name="Google Shape;360;p46"/>
          <p:cNvSpPr/>
          <p:nvPr/>
        </p:nvSpPr>
        <p:spPr>
          <a:xfrm>
            <a:off x="6736096" y="1719625"/>
            <a:ext cx="1802100" cy="1802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Desplie-gue</a:t>
            </a:r>
            <a:endParaRPr sz="1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3685015" y="1719625"/>
            <a:ext cx="1802100" cy="1802100"/>
          </a:xfrm>
          <a:prstGeom prst="ellipse">
            <a:avLst/>
          </a:prstGeom>
          <a:solidFill>
            <a:srgbClr val="000000">
              <a:alpha val="7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Etapa</a:t>
            </a:r>
            <a:r>
              <a:rPr lang="en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ctrTitle"/>
          </p:nvPr>
        </p:nvSpPr>
        <p:spPr>
          <a:xfrm>
            <a:off x="2022225" y="1693525"/>
            <a:ext cx="5736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Limpieza de datos</a:t>
            </a:r>
            <a:endParaRPr dirty="0"/>
          </a:p>
        </p:txBody>
      </p:sp>
      <p:sp>
        <p:nvSpPr>
          <p:cNvPr id="274" name="Google Shape;274;p32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Homogeinización de datos y capas de seguridad</a:t>
            </a:r>
            <a:endParaRPr dirty="0"/>
          </a:p>
        </p:txBody>
      </p:sp>
      <p:sp>
        <p:nvSpPr>
          <p:cNvPr id="275" name="Google Shape;275;p3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Limpieza de datos</a:t>
            </a:r>
            <a:endParaRPr dirty="0"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" dirty="0"/>
              <a:t>Datos desconocidos</a:t>
            </a:r>
          </a:p>
          <a:p>
            <a:pPr marL="342900" indent="-342900"/>
            <a:r>
              <a:rPr lang="en" dirty="0"/>
              <a:t>Columnas irrelevantes</a:t>
            </a:r>
          </a:p>
          <a:p>
            <a:pPr marL="342900" indent="-342900"/>
            <a:r>
              <a:rPr lang="en" dirty="0"/>
              <a:t>Filas duplicadas</a:t>
            </a:r>
          </a:p>
          <a:p>
            <a:pPr marL="342900" indent="-342900"/>
            <a:r>
              <a:rPr lang="en" dirty="0"/>
              <a:t>Valores ilógicos</a:t>
            </a:r>
          </a:p>
          <a:p>
            <a:pPr marL="342900" indent="-342900"/>
            <a:r>
              <a:rPr lang="en" dirty="0"/>
              <a:t>Uso de minúsculas</a:t>
            </a:r>
          </a:p>
          <a:p>
            <a:pPr marL="342900" indent="-342900"/>
            <a:r>
              <a:rPr lang="en" dirty="0"/>
              <a:t>Códificación de datos</a:t>
            </a:r>
          </a:p>
          <a:p>
            <a:pPr marL="342900" indent="-342900"/>
            <a:endParaRPr lang="en" dirty="0"/>
          </a:p>
          <a:p>
            <a:pPr marL="800100" lvl="1" indent="-342900"/>
            <a:endParaRPr dirty="0"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" dirty="0"/>
              <a:t>Protección de datos sensibles</a:t>
            </a:r>
          </a:p>
          <a:p>
            <a:pPr marL="800100" lvl="1" indent="-342900"/>
            <a:r>
              <a:rPr lang="en-US" dirty="0"/>
              <a:t>I</a:t>
            </a:r>
            <a:r>
              <a:rPr lang="en" dirty="0"/>
              <a:t>d del cliente</a:t>
            </a:r>
          </a:p>
          <a:p>
            <a:pPr marL="342900" indent="-342900"/>
            <a:r>
              <a:rPr lang="en" dirty="0"/>
              <a:t>Ciberseguridad UUID</a:t>
            </a:r>
          </a:p>
          <a:p>
            <a:pPr marL="800100" lvl="1" indent="-342900"/>
            <a:r>
              <a:rPr lang="en" dirty="0"/>
              <a:t>Encriptación de identidad</a:t>
            </a:r>
          </a:p>
          <a:p>
            <a:pPr marL="800100" lvl="1" indent="-342900"/>
            <a:r>
              <a:rPr lang="en" dirty="0"/>
              <a:t>Desencriptación del usuario</a:t>
            </a:r>
          </a:p>
        </p:txBody>
      </p:sp>
      <p:sp>
        <p:nvSpPr>
          <p:cNvPr id="290" name="Google Shape;290;p3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EDA</a:t>
            </a:r>
            <a:endParaRPr dirty="0"/>
          </a:p>
        </p:txBody>
      </p:sp>
      <p:sp>
        <p:nvSpPr>
          <p:cNvPr id="281" name="Google Shape;281;p33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Analisis exploratorio de datos</a:t>
            </a:r>
            <a:endParaRPr dirty="0"/>
          </a:p>
        </p:txBody>
      </p:sp>
      <p:sp>
        <p:nvSpPr>
          <p:cNvPr id="282" name="Google Shape;282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6F046758-7A9E-02AC-463D-822B7E39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0">
            <a:extLst>
              <a:ext uri="{FF2B5EF4-FFF2-40B4-BE49-F238E27FC236}">
                <a16:creationId xmlns:a16="http://schemas.microsoft.com/office/drawing/2014/main" id="{D9864949-15EF-C810-0D35-F9C2EC720B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" name="Google Shape;607;p58">
            <a:extLst>
              <a:ext uri="{FF2B5EF4-FFF2-40B4-BE49-F238E27FC236}">
                <a16:creationId xmlns:a16="http://schemas.microsoft.com/office/drawing/2014/main" id="{0E7C1C90-B60A-BF28-A148-CAD88CB27EC6}"/>
              </a:ext>
            </a:extLst>
          </p:cNvPr>
          <p:cNvSpPr/>
          <p:nvPr/>
        </p:nvSpPr>
        <p:spPr>
          <a:xfrm>
            <a:off x="1899467" y="916254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1" dirty="0"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Númericos</a:t>
            </a:r>
            <a:endParaRPr sz="700" b="1" i="1" dirty="0"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5" name="Google Shape;607;p58">
            <a:extLst>
              <a:ext uri="{FF2B5EF4-FFF2-40B4-BE49-F238E27FC236}">
                <a16:creationId xmlns:a16="http://schemas.microsoft.com/office/drawing/2014/main" id="{ED2091DE-0C0E-6420-2ECA-2F657BFBEB38}"/>
              </a:ext>
            </a:extLst>
          </p:cNvPr>
          <p:cNvSpPr/>
          <p:nvPr/>
        </p:nvSpPr>
        <p:spPr>
          <a:xfrm>
            <a:off x="6327574" y="916253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1" dirty="0"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Categóricos</a:t>
            </a:r>
            <a:endParaRPr sz="700" b="1" i="1" dirty="0"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6" name="Google Shape;607;p58">
            <a:extLst>
              <a:ext uri="{FF2B5EF4-FFF2-40B4-BE49-F238E27FC236}">
                <a16:creationId xmlns:a16="http://schemas.microsoft.com/office/drawing/2014/main" id="{7F1F4A9F-7BD4-0886-1F6E-EC608E5CF4F8}"/>
              </a:ext>
            </a:extLst>
          </p:cNvPr>
          <p:cNvSpPr/>
          <p:nvPr/>
        </p:nvSpPr>
        <p:spPr>
          <a:xfrm>
            <a:off x="1162202" y="2089242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highlight>
                  <a:srgbClr val="FFCD00"/>
                </a:highlight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Continúos</a:t>
            </a:r>
            <a:endParaRPr sz="700" dirty="0">
              <a:highlight>
                <a:srgbClr val="FFCD00"/>
              </a:highlight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9" name="Google Shape;607;p58">
            <a:extLst>
              <a:ext uri="{FF2B5EF4-FFF2-40B4-BE49-F238E27FC236}">
                <a16:creationId xmlns:a16="http://schemas.microsoft.com/office/drawing/2014/main" id="{7A27DDBC-FF15-5BE4-62AD-60CAA275FB4C}"/>
              </a:ext>
            </a:extLst>
          </p:cNvPr>
          <p:cNvSpPr/>
          <p:nvPr/>
        </p:nvSpPr>
        <p:spPr>
          <a:xfrm>
            <a:off x="2597291" y="2089242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highlight>
                  <a:srgbClr val="FFCD00"/>
                </a:highlight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Discretos</a:t>
            </a:r>
            <a:endParaRPr sz="700" dirty="0">
              <a:highlight>
                <a:srgbClr val="FFCD00"/>
              </a:highlight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10" name="Google Shape;607;p58">
            <a:extLst>
              <a:ext uri="{FF2B5EF4-FFF2-40B4-BE49-F238E27FC236}">
                <a16:creationId xmlns:a16="http://schemas.microsoft.com/office/drawing/2014/main" id="{80B4F6A1-D502-A29A-CF23-6C5F21E5EC50}"/>
              </a:ext>
            </a:extLst>
          </p:cNvPr>
          <p:cNvSpPr/>
          <p:nvPr/>
        </p:nvSpPr>
        <p:spPr>
          <a:xfrm>
            <a:off x="4586561" y="2089242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highlight>
                  <a:srgbClr val="FFCD00"/>
                </a:highlight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Ordinales</a:t>
            </a:r>
            <a:endParaRPr sz="700" dirty="0">
              <a:highlight>
                <a:srgbClr val="FFCD00"/>
              </a:highlight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11" name="Google Shape;607;p58">
            <a:extLst>
              <a:ext uri="{FF2B5EF4-FFF2-40B4-BE49-F238E27FC236}">
                <a16:creationId xmlns:a16="http://schemas.microsoft.com/office/drawing/2014/main" id="{9B42CC1F-3FD3-A650-45C1-41EAA25E7741}"/>
              </a:ext>
            </a:extLst>
          </p:cNvPr>
          <p:cNvSpPr/>
          <p:nvPr/>
        </p:nvSpPr>
        <p:spPr>
          <a:xfrm>
            <a:off x="6021649" y="2089242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highlight>
                  <a:srgbClr val="FFCD00"/>
                </a:highlight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Nominales</a:t>
            </a:r>
            <a:endParaRPr sz="700" dirty="0">
              <a:highlight>
                <a:srgbClr val="FFCD00"/>
              </a:highlight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12" name="Google Shape;607;p58">
            <a:extLst>
              <a:ext uri="{FF2B5EF4-FFF2-40B4-BE49-F238E27FC236}">
                <a16:creationId xmlns:a16="http://schemas.microsoft.com/office/drawing/2014/main" id="{B89C5914-A9CA-A7CE-B9E9-EE2C8D1D7F09}"/>
              </a:ext>
            </a:extLst>
          </p:cNvPr>
          <p:cNvSpPr/>
          <p:nvPr/>
        </p:nvSpPr>
        <p:spPr>
          <a:xfrm>
            <a:off x="7456738" y="2089242"/>
            <a:ext cx="916959" cy="916959"/>
          </a:xfrm>
          <a:prstGeom prst="ellipse">
            <a:avLst/>
          </a:prstGeom>
          <a:noFill/>
          <a:ln w="12700" cap="flat" cmpd="sng">
            <a:solidFill>
              <a:srgbClr val="FFC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latin typeface="Quattrocento Sans" panose="020B0502050000020003" pitchFamily="34" charset="0"/>
                <a:ea typeface="Lora"/>
                <a:cs typeface="Lora"/>
                <a:sym typeface="Lora"/>
              </a:rPr>
              <a:t>binarios</a:t>
            </a:r>
            <a:endParaRPr sz="700" dirty="0">
              <a:latin typeface="Quattrocento Sans" panose="020B0502050000020003" pitchFamily="34" charset="0"/>
              <a:ea typeface="Lora"/>
              <a:cs typeface="Lora"/>
              <a:sym typeface="Lora"/>
            </a:endParaRPr>
          </a:p>
        </p:txBody>
      </p:sp>
      <p:sp>
        <p:nvSpPr>
          <p:cNvPr id="14" name="Google Shape;295;p35">
            <a:extLst>
              <a:ext uri="{FF2B5EF4-FFF2-40B4-BE49-F238E27FC236}">
                <a16:creationId xmlns:a16="http://schemas.microsoft.com/office/drawing/2014/main" id="{F032551B-DAFD-EAE6-5586-909B92AF87BE}"/>
              </a:ext>
            </a:extLst>
          </p:cNvPr>
          <p:cNvSpPr txBox="1">
            <a:spLocks/>
          </p:cNvSpPr>
          <p:nvPr/>
        </p:nvSpPr>
        <p:spPr>
          <a:xfrm>
            <a:off x="3238500" y="340133"/>
            <a:ext cx="26670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b="1" dirty="0" err="1">
                <a:latin typeface="Lora" pitchFamily="2" charset="0"/>
              </a:rPr>
              <a:t>Tipos</a:t>
            </a:r>
            <a:r>
              <a:rPr lang="en-US" sz="1800" b="1" dirty="0">
                <a:latin typeface="Lora" pitchFamily="2" charset="0"/>
              </a:rPr>
              <a:t> de </a:t>
            </a:r>
            <a:r>
              <a:rPr lang="en-US" sz="1800" b="1" dirty="0" err="1">
                <a:latin typeface="Lora" pitchFamily="2" charset="0"/>
              </a:rPr>
              <a:t>datos</a:t>
            </a:r>
            <a:endParaRPr lang="en-US" sz="1800" b="1" dirty="0">
              <a:latin typeface="Lora" pitchFamily="2" charset="0"/>
            </a:endParaRP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C22D31EF-583C-ABB5-BDF8-9E3E1D4538B2}"/>
              </a:ext>
            </a:extLst>
          </p:cNvPr>
          <p:cNvCxnSpPr>
            <a:cxnSpLocks/>
            <a:stCxn id="3" idx="6"/>
            <a:endCxn id="14" idx="2"/>
          </p:cNvCxnSpPr>
          <p:nvPr/>
        </p:nvCxnSpPr>
        <p:spPr>
          <a:xfrm flipV="1">
            <a:off x="2816426" y="775733"/>
            <a:ext cx="1755574" cy="599001"/>
          </a:xfrm>
          <a:prstGeom prst="bentConnector2">
            <a:avLst/>
          </a:prstGeom>
          <a:ln>
            <a:solidFill>
              <a:srgbClr val="FFCD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7674BB56-E735-B050-FB5A-B7C11D2555D4}"/>
              </a:ext>
            </a:extLst>
          </p:cNvPr>
          <p:cNvCxnSpPr>
            <a:cxnSpLocks/>
            <a:stCxn id="14" idx="2"/>
            <a:endCxn id="5" idx="2"/>
          </p:cNvCxnSpPr>
          <p:nvPr/>
        </p:nvCxnSpPr>
        <p:spPr>
          <a:xfrm rot="16200000" flipH="1">
            <a:off x="5150287" y="197446"/>
            <a:ext cx="599000" cy="1755574"/>
          </a:xfrm>
          <a:prstGeom prst="bentConnector2">
            <a:avLst/>
          </a:prstGeom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533F26BE-1AE2-D4EE-E557-E25DE4C7FD4C}"/>
              </a:ext>
            </a:extLst>
          </p:cNvPr>
          <p:cNvCxnSpPr>
            <a:stCxn id="3" idx="4"/>
            <a:endCxn id="6" idx="0"/>
          </p:cNvCxnSpPr>
          <p:nvPr/>
        </p:nvCxnSpPr>
        <p:spPr>
          <a:xfrm rot="5400000">
            <a:off x="1861301" y="1592595"/>
            <a:ext cx="256029" cy="737265"/>
          </a:xfrm>
          <a:prstGeom prst="bentConnector3">
            <a:avLst/>
          </a:prstGeom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9104E818-0268-00D0-C204-2EF8F798D247}"/>
              </a:ext>
            </a:extLst>
          </p:cNvPr>
          <p:cNvCxnSpPr>
            <a:stCxn id="3" idx="4"/>
            <a:endCxn id="9" idx="0"/>
          </p:cNvCxnSpPr>
          <p:nvPr/>
        </p:nvCxnSpPr>
        <p:spPr>
          <a:xfrm rot="16200000" flipH="1">
            <a:off x="2578845" y="1612315"/>
            <a:ext cx="256029" cy="697824"/>
          </a:xfrm>
          <a:prstGeom prst="bentConnector3">
            <a:avLst/>
          </a:prstGeom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3B3142C0-D308-6586-2520-C1FBE00F7AA0}"/>
              </a:ext>
            </a:extLst>
          </p:cNvPr>
          <p:cNvCxnSpPr>
            <a:stCxn id="5" idx="4"/>
            <a:endCxn id="10" idx="0"/>
          </p:cNvCxnSpPr>
          <p:nvPr/>
        </p:nvCxnSpPr>
        <p:spPr>
          <a:xfrm rot="5400000">
            <a:off x="5787533" y="1090721"/>
            <a:ext cx="256030" cy="1741013"/>
          </a:xfrm>
          <a:prstGeom prst="bentConnector3">
            <a:avLst/>
          </a:prstGeom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AD78B92B-3162-DFD9-26F5-2D3DA7C8E19F}"/>
              </a:ext>
            </a:extLst>
          </p:cNvPr>
          <p:cNvCxnSpPr>
            <a:stCxn id="5" idx="4"/>
            <a:endCxn id="11" idx="0"/>
          </p:cNvCxnSpPr>
          <p:nvPr/>
        </p:nvCxnSpPr>
        <p:spPr>
          <a:xfrm rot="5400000">
            <a:off x="6505077" y="1808265"/>
            <a:ext cx="256030" cy="305925"/>
          </a:xfrm>
          <a:prstGeom prst="bentConnector3">
            <a:avLst/>
          </a:prstGeom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6FD479DF-DDAD-1575-3CBE-0204B2C989AB}"/>
              </a:ext>
            </a:extLst>
          </p:cNvPr>
          <p:cNvCxnSpPr>
            <a:stCxn id="5" idx="4"/>
            <a:endCxn id="12" idx="0"/>
          </p:cNvCxnSpPr>
          <p:nvPr/>
        </p:nvCxnSpPr>
        <p:spPr>
          <a:xfrm rot="16200000" flipH="1">
            <a:off x="7222621" y="1396645"/>
            <a:ext cx="256030" cy="1129164"/>
          </a:xfrm>
          <a:prstGeom prst="bentConnector3">
            <a:avLst/>
          </a:prstGeom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8703377-44C5-8A75-9EB2-96D2615AC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65284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00415AB-06FD-C492-A5D1-EE2D8FB854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F065F3-9811-E0DF-C634-C687E9A0A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72" y="1306283"/>
            <a:ext cx="8091055" cy="196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76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Dataviz</a:t>
            </a:r>
            <a:endParaRPr dirty="0"/>
          </a:p>
        </p:txBody>
      </p:sp>
      <p:sp>
        <p:nvSpPr>
          <p:cNvPr id="304" name="Google Shape;304;p36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Visualización de datos en el EDA</a:t>
            </a:r>
            <a:endParaRPr dirty="0"/>
          </a:p>
        </p:txBody>
      </p:sp>
      <p:sp>
        <p:nvSpPr>
          <p:cNvPr id="305" name="Google Shape;305;p3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4A02F-C339-B86C-B4B3-1890BC54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Visualización EDA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976EDB-2A38-99FF-4A7B-3FF2DAB0F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304" y="1651075"/>
            <a:ext cx="2334000" cy="3122400"/>
          </a:xfrm>
        </p:spPr>
        <p:txBody>
          <a:bodyPr/>
          <a:lstStyle/>
          <a:p>
            <a:r>
              <a:rPr lang="es-CO" dirty="0"/>
              <a:t>Análisis por categoría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4C97E9-D03D-D04C-AD46-3638503DB8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543966" y="1651075"/>
            <a:ext cx="2334000" cy="3122400"/>
          </a:xfrm>
        </p:spPr>
        <p:txBody>
          <a:bodyPr/>
          <a:lstStyle/>
          <a:p>
            <a:r>
              <a:rPr lang="es-CO" dirty="0"/>
              <a:t>Análisis </a:t>
            </a:r>
            <a:r>
              <a:rPr lang="es-CO" dirty="0" err="1"/>
              <a:t>univariado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F0D535-1090-4B18-B018-A5B38B0EB9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997627" y="1651075"/>
            <a:ext cx="2334000" cy="3122400"/>
          </a:xfrm>
        </p:spPr>
        <p:txBody>
          <a:bodyPr/>
          <a:lstStyle/>
          <a:p>
            <a:r>
              <a:rPr lang="es-CO" dirty="0"/>
              <a:t>Análisis bivariado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0723F6-0911-EEAD-317A-944E73C09F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8" name="Imagen 7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C5129A6E-6CE2-B327-2773-49F0259BF6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431"/>
          <a:stretch/>
        </p:blipFill>
        <p:spPr>
          <a:xfrm>
            <a:off x="1377248" y="2600188"/>
            <a:ext cx="1781587" cy="1085121"/>
          </a:xfrm>
          <a:prstGeom prst="rect">
            <a:avLst/>
          </a:prstGeom>
        </p:spPr>
      </p:pic>
      <p:pic>
        <p:nvPicPr>
          <p:cNvPr id="10" name="Imagen 9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045C1371-FE2C-E3E8-DD36-DE9AB3AC0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302" y="2600188"/>
            <a:ext cx="3127986" cy="939648"/>
          </a:xfrm>
          <a:prstGeom prst="rect">
            <a:avLst/>
          </a:prstGeom>
        </p:spPr>
      </p:pic>
      <p:pic>
        <p:nvPicPr>
          <p:cNvPr id="12" name="Imagen 11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E551ED03-4569-A05D-745E-306B997E5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304" y="2600188"/>
            <a:ext cx="2334000" cy="701135"/>
          </a:xfrm>
          <a:prstGeom prst="rect">
            <a:avLst/>
          </a:prstGeom>
        </p:spPr>
      </p:pic>
      <p:pic>
        <p:nvPicPr>
          <p:cNvPr id="1026" name="Picture 2" descr="Project Jupyter - Wikipedia">
            <a:extLst>
              <a:ext uri="{FF2B5EF4-FFF2-40B4-BE49-F238E27FC236}">
                <a16:creationId xmlns:a16="http://schemas.microsoft.com/office/drawing/2014/main" id="{B67728A5-4670-AA17-63BA-E0DFE1A1E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405" y="3805181"/>
            <a:ext cx="517772" cy="60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roject Jupyter - Wikipedia">
            <a:extLst>
              <a:ext uri="{FF2B5EF4-FFF2-40B4-BE49-F238E27FC236}">
                <a16:creationId xmlns:a16="http://schemas.microsoft.com/office/drawing/2014/main" id="{1C44C37B-D4BF-0E62-CBBF-C4C15D7FE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114" y="3805181"/>
            <a:ext cx="517772" cy="60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Project Jupyter - Wikipedia">
            <a:extLst>
              <a:ext uri="{FF2B5EF4-FFF2-40B4-BE49-F238E27FC236}">
                <a16:creationId xmlns:a16="http://schemas.microsoft.com/office/drawing/2014/main" id="{FFEEE725-FB73-C375-FCAA-E8ACF17D6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709" y="3805181"/>
            <a:ext cx="517772" cy="60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Google Shape;141;p23">
            <a:extLst>
              <a:ext uri="{FF2B5EF4-FFF2-40B4-BE49-F238E27FC236}">
                <a16:creationId xmlns:a16="http://schemas.microsoft.com/office/drawing/2014/main" id="{54D311B5-8B83-84DD-D19D-53541973EE57}"/>
              </a:ext>
            </a:extLst>
          </p:cNvPr>
          <p:cNvSpPr txBox="1"/>
          <p:nvPr/>
        </p:nvSpPr>
        <p:spPr>
          <a:xfrm>
            <a:off x="2742900" y="4909246"/>
            <a:ext cx="3658200" cy="22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Quattrocento Sans"/>
                <a:ea typeface="Quattrocento Sans"/>
                <a:cs typeface="Quattrocento Sans"/>
                <a:sym typeface="Quattrocento Sans"/>
              </a:rPr>
              <a:t>Visualización dinámica en notebooks.</a:t>
            </a:r>
            <a:endParaRPr sz="1100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29219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0F5D-6153-0E06-EB2D-83073A33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08475CA-6FD3-E521-76F4-2F3C94A514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3" name="Google Shape;250;p29">
            <a:extLst>
              <a:ext uri="{FF2B5EF4-FFF2-40B4-BE49-F238E27FC236}">
                <a16:creationId xmlns:a16="http://schemas.microsoft.com/office/drawing/2014/main" id="{8E9DFED2-6B37-188C-492B-F027CB33ABFD}"/>
              </a:ext>
            </a:extLst>
          </p:cNvPr>
          <p:cNvSpPr txBox="1">
            <a:spLocks/>
          </p:cNvSpPr>
          <p:nvPr/>
        </p:nvSpPr>
        <p:spPr>
          <a:xfrm>
            <a:off x="942109" y="1350818"/>
            <a:ext cx="7259782" cy="17070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s-ES" sz="2400" i="1" dirty="0">
                <a:latin typeface="Lora" pitchFamily="2" charset="0"/>
              </a:rPr>
              <a:t>Una vez se han identificado las oportunidades de mejora, así como las fortalezas de la compañía, se realizarán transformaciones a los datos en </a:t>
            </a:r>
            <a:r>
              <a:rPr lang="es-ES" sz="2400" i="1" dirty="0" err="1">
                <a:latin typeface="Lora" pitchFamily="2" charset="0"/>
              </a:rPr>
              <a:t>pos</a:t>
            </a:r>
            <a:r>
              <a:rPr lang="es-ES" sz="2400" i="1" dirty="0">
                <a:latin typeface="Lora" pitchFamily="2" charset="0"/>
              </a:rPr>
              <a:t> de explotar dichas características.</a:t>
            </a:r>
          </a:p>
        </p:txBody>
      </p:sp>
    </p:spTree>
    <p:extLst>
      <p:ext uri="{BB962C8B-B14F-4D97-AF65-F5344CB8AC3E}">
        <p14:creationId xmlns:p14="http://schemas.microsoft.com/office/powerpoint/2010/main" val="1872122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Preprocesamiento</a:t>
            </a:r>
            <a:endParaRPr dirty="0"/>
          </a:p>
        </p:txBody>
      </p:sp>
      <p:sp>
        <p:nvSpPr>
          <p:cNvPr id="311" name="Google Shape;311;p37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Transformación de datos guiada por el EDA</a:t>
            </a:r>
            <a:endParaRPr dirty="0"/>
          </a:p>
        </p:txBody>
      </p:sp>
      <p:sp>
        <p:nvSpPr>
          <p:cNvPr id="312" name="Google Shape;312;p3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Innovación y explotación</a:t>
            </a:r>
            <a:endParaRPr dirty="0"/>
          </a:p>
        </p:txBody>
      </p:sp>
      <p:sp>
        <p:nvSpPr>
          <p:cNvPr id="296" name="Google Shape;296;p35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" b="1" dirty="0"/>
              <a:t>Imputación</a:t>
            </a:r>
            <a:r>
              <a:rPr lang="en" dirty="0"/>
              <a:t> de datos</a:t>
            </a:r>
          </a:p>
          <a:p>
            <a:pPr marL="800100" lvl="1" indent="-342900"/>
            <a:r>
              <a:rPr lang="en" dirty="0"/>
              <a:t>Imp. </a:t>
            </a:r>
            <a:r>
              <a:rPr lang="en-US" dirty="0"/>
              <a:t>S</a:t>
            </a:r>
            <a:r>
              <a:rPr lang="en" dirty="0"/>
              <a:t>imple: uso de la moda por ser variables categóricas</a:t>
            </a:r>
          </a:p>
          <a:p>
            <a:pPr marL="800100" lvl="1" indent="-342900"/>
            <a:r>
              <a:rPr lang="en" dirty="0"/>
              <a:t>Imp. Hot-Deck (IA): uso de inputación por algoritmo KNN.</a:t>
            </a:r>
          </a:p>
        </p:txBody>
      </p:sp>
      <p:sp>
        <p:nvSpPr>
          <p:cNvPr id="297" name="Google Shape;297;p35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" b="1" dirty="0"/>
              <a:t>Codificación de variables </a:t>
            </a:r>
            <a:r>
              <a:rPr lang="en" dirty="0"/>
              <a:t>categóricas</a:t>
            </a:r>
            <a:endParaRPr dirty="0"/>
          </a:p>
        </p:txBody>
      </p:sp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</a:t>
            </a:r>
            <a:endParaRPr dirty="0"/>
          </a:p>
        </p:txBody>
      </p:sp>
      <p:sp>
        <p:nvSpPr>
          <p:cNvPr id="318" name="Google Shape;318;p38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Creación del modelo</a:t>
            </a:r>
            <a:endParaRPr dirty="0"/>
          </a:p>
        </p:txBody>
      </p:sp>
      <p:sp>
        <p:nvSpPr>
          <p:cNvPr id="319" name="Google Shape;319;p3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6F840-8BC7-934D-D381-CFEE303B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AutoML</a:t>
            </a:r>
            <a:r>
              <a:rPr lang="es-CO" dirty="0"/>
              <a:t> y Modelo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F23905-0A76-4B08-30FC-A387DD85CB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618" name="Google Shape;618;p59"/>
          <p:cNvSpPr txBox="1">
            <a:spLocks/>
          </p:cNvSpPr>
          <p:nvPr/>
        </p:nvSpPr>
        <p:spPr>
          <a:xfrm>
            <a:off x="1381250" y="16389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s-CO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Hiperparametrización</a:t>
            </a:r>
            <a:endParaRPr lang="es-CO" sz="1200" b="1" dirty="0">
              <a:highlight>
                <a:srgbClr val="FFCD00"/>
              </a:highlight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</a:pPr>
            <a:r>
              <a:rPr lang="es-CO" sz="1200" dirty="0">
                <a:latin typeface="Quattrocento Sans" panose="020B0502050000020003" pitchFamily="34" charset="0"/>
              </a:rPr>
              <a:t>Preparación</a:t>
            </a:r>
            <a:r>
              <a:rPr lang="en-US" sz="1200" dirty="0">
                <a:latin typeface="Quattrocento Sans" panose="020B0502050000020003" pitchFamily="34" charset="0"/>
              </a:rPr>
              <a:t> para </a:t>
            </a:r>
            <a:r>
              <a:rPr lang="en-US" sz="1200" dirty="0" err="1">
                <a:latin typeface="Quattrocento Sans" panose="020B0502050000020003" pitchFamily="34" charset="0"/>
              </a:rPr>
              <a:t>hiperparametrización</a:t>
            </a:r>
            <a:r>
              <a:rPr lang="en-US" sz="1200" dirty="0">
                <a:latin typeface="Quattrocento Sans" panose="020B0502050000020003" pitchFamily="34" charset="0"/>
              </a:rPr>
              <a:t> de 19 </a:t>
            </a:r>
            <a:r>
              <a:rPr lang="en-US" sz="1200" dirty="0" err="1">
                <a:latin typeface="Quattrocento Sans" panose="020B0502050000020003" pitchFamily="34" charset="0"/>
              </a:rPr>
              <a:t>posibles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modelos</a:t>
            </a:r>
            <a:r>
              <a:rPr lang="en-US" sz="1200" dirty="0">
                <a:latin typeface="Quattrocento Sans" panose="020B0502050000020003" pitchFamily="34" charset="0"/>
              </a:rPr>
              <a:t>.</a:t>
            </a:r>
          </a:p>
        </p:txBody>
      </p:sp>
      <p:sp>
        <p:nvSpPr>
          <p:cNvPr id="619" name="Google Shape;619;p59"/>
          <p:cNvSpPr txBox="1">
            <a:spLocks/>
          </p:cNvSpPr>
          <p:nvPr/>
        </p:nvSpPr>
        <p:spPr>
          <a:xfrm>
            <a:off x="3834914" y="16389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Comparación</a:t>
            </a:r>
            <a:endParaRPr lang="en-US" sz="1200" b="1" dirty="0">
              <a:highlight>
                <a:srgbClr val="FFCD00"/>
              </a:highlight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>
                <a:latin typeface="Quattrocento Sans" panose="020B0502050000020003" pitchFamily="34" charset="0"/>
              </a:rPr>
              <a:t>Comparación</a:t>
            </a:r>
            <a:r>
              <a:rPr lang="en-US" sz="1200" dirty="0">
                <a:latin typeface="Quattrocento Sans" panose="020B0502050000020003" pitchFamily="34" charset="0"/>
              </a:rPr>
              <a:t> de </a:t>
            </a:r>
            <a:r>
              <a:rPr lang="en-US" sz="1200" dirty="0" err="1">
                <a:latin typeface="Quattrocento Sans" panose="020B0502050000020003" pitchFamily="34" charset="0"/>
              </a:rPr>
              <a:t>resultados</a:t>
            </a:r>
            <a:r>
              <a:rPr lang="en-US" sz="1200" dirty="0">
                <a:latin typeface="Quattrocento Sans" panose="020B0502050000020003" pitchFamily="34" charset="0"/>
              </a:rPr>
              <a:t> de </a:t>
            </a:r>
            <a:r>
              <a:rPr lang="en-US" sz="1200" dirty="0" err="1">
                <a:latin typeface="Quattrocento Sans" panose="020B0502050000020003" pitchFamily="34" charset="0"/>
              </a:rPr>
              <a:t>clasificación</a:t>
            </a:r>
            <a:r>
              <a:rPr lang="en-US" sz="1200" dirty="0">
                <a:latin typeface="Quattrocento Sans" panose="020B0502050000020003" pitchFamily="34" charset="0"/>
              </a:rPr>
              <a:t> (16 </a:t>
            </a:r>
            <a:r>
              <a:rPr lang="en-US" sz="1200" dirty="0" err="1">
                <a:latin typeface="Quattrocento Sans" panose="020B0502050000020003" pitchFamily="34" charset="0"/>
              </a:rPr>
              <a:t>modelos</a:t>
            </a:r>
            <a:r>
              <a:rPr lang="en-US" sz="1200" dirty="0">
                <a:latin typeface="Quattrocento Sans" panose="020B0502050000020003" pitchFamily="34" charset="0"/>
              </a:rPr>
              <a:t>).</a:t>
            </a:r>
          </a:p>
        </p:txBody>
      </p:sp>
      <p:sp>
        <p:nvSpPr>
          <p:cNvPr id="620" name="Google Shape;620;p59"/>
          <p:cNvSpPr txBox="1">
            <a:spLocks/>
          </p:cNvSpPr>
          <p:nvPr/>
        </p:nvSpPr>
        <p:spPr>
          <a:xfrm>
            <a:off x="6288578" y="1638975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Selección</a:t>
            </a:r>
            <a:r>
              <a:rPr lang="en-US" sz="1200" b="1" dirty="0">
                <a:highlight>
                  <a:srgbClr val="FFCD00"/>
                </a:highlight>
                <a:latin typeface="Quattrocento Sans" panose="020B0502050000020003" pitchFamily="34" charset="0"/>
              </a:rPr>
              <a:t> del </a:t>
            </a: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modelo</a:t>
            </a:r>
            <a:endParaRPr lang="en-US" sz="1200" b="1" dirty="0">
              <a:highlight>
                <a:srgbClr val="FFCD00"/>
              </a:highlight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>
                <a:latin typeface="Quattrocento Sans" panose="020B0502050000020003" pitchFamily="34" charset="0"/>
              </a:rPr>
              <a:t>Selección</a:t>
            </a:r>
            <a:r>
              <a:rPr lang="en-US" sz="1200" dirty="0">
                <a:latin typeface="Quattrocento Sans" panose="020B0502050000020003" pitchFamily="34" charset="0"/>
              </a:rPr>
              <a:t> del </a:t>
            </a:r>
            <a:r>
              <a:rPr lang="en-US" sz="1200" dirty="0" err="1">
                <a:latin typeface="Quattrocento Sans" panose="020B0502050000020003" pitchFamily="34" charset="0"/>
              </a:rPr>
              <a:t>modelo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i="1" dirty="0">
                <a:latin typeface="Quattrocento Sans" panose="020B0502050000020003" pitchFamily="34" charset="0"/>
              </a:rPr>
              <a:t>Ada Boost Classifier a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juicio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humano</a:t>
            </a:r>
            <a:r>
              <a:rPr lang="en-US" sz="1200" dirty="0">
                <a:latin typeface="Quattrocento Sans" panose="020B0502050000020003" pitchFamily="34" charset="0"/>
              </a:rPr>
              <a:t>. </a:t>
            </a:r>
          </a:p>
          <a:p>
            <a:pPr>
              <a:spcBef>
                <a:spcPts val="600"/>
              </a:spcBef>
            </a:pPr>
            <a:endParaRPr lang="en-US" sz="1200" dirty="0"/>
          </a:p>
        </p:txBody>
      </p:sp>
      <p:sp>
        <p:nvSpPr>
          <p:cNvPr id="621" name="Google Shape;621;p59"/>
          <p:cNvSpPr txBox="1">
            <a:spLocks/>
          </p:cNvSpPr>
          <p:nvPr/>
        </p:nvSpPr>
        <p:spPr>
          <a:xfrm>
            <a:off x="1381250" y="3237224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Entrenamiento</a:t>
            </a:r>
            <a:r>
              <a:rPr lang="en-US" sz="1200" b="1" dirty="0">
                <a:highlight>
                  <a:srgbClr val="FFCD00"/>
                </a:highlight>
                <a:latin typeface="Quattrocento Sans" panose="020B0502050000020003" pitchFamily="34" charset="0"/>
              </a:rPr>
              <a:t> </a:t>
            </a: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iterativo</a:t>
            </a:r>
            <a:endParaRPr lang="en-US" sz="1200" b="1" dirty="0">
              <a:highlight>
                <a:srgbClr val="FFCD00"/>
              </a:highlight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>
                <a:latin typeface="Quattrocento Sans" panose="020B0502050000020003" pitchFamily="34" charset="0"/>
              </a:rPr>
              <a:t>Entrenamiento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iterativo</a:t>
            </a:r>
            <a:r>
              <a:rPr lang="en-US" sz="1200" dirty="0">
                <a:latin typeface="Quattrocento Sans" panose="020B0502050000020003" pitchFamily="34" charset="0"/>
              </a:rPr>
              <a:t> (10) </a:t>
            </a:r>
            <a:r>
              <a:rPr lang="en-US" sz="1200" dirty="0" err="1">
                <a:latin typeface="Quattrocento Sans" panose="020B0502050000020003" pitchFamily="34" charset="0"/>
              </a:rPr>
              <a:t>usando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los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datos</a:t>
            </a:r>
            <a:r>
              <a:rPr lang="en-US" sz="1200" dirty="0">
                <a:latin typeface="Quattrocento Sans" panose="020B0502050000020003" pitchFamily="34" charset="0"/>
              </a:rPr>
              <a:t> de </a:t>
            </a:r>
            <a:r>
              <a:rPr lang="en-US" sz="1200" dirty="0" err="1">
                <a:latin typeface="Quattrocento Sans" panose="020B0502050000020003" pitchFamily="34" charset="0"/>
              </a:rPr>
              <a:t>entrenamiento</a:t>
            </a:r>
            <a:r>
              <a:rPr lang="en-US" sz="1200" dirty="0">
                <a:latin typeface="Quattrocento Sans" panose="020B0502050000020003" pitchFamily="34" charset="0"/>
              </a:rPr>
              <a:t>.</a:t>
            </a:r>
          </a:p>
        </p:txBody>
      </p:sp>
      <p:sp>
        <p:nvSpPr>
          <p:cNvPr id="622" name="Google Shape;622;p59"/>
          <p:cNvSpPr txBox="1">
            <a:spLocks/>
          </p:cNvSpPr>
          <p:nvPr/>
        </p:nvSpPr>
        <p:spPr>
          <a:xfrm>
            <a:off x="3834914" y="3237224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Resultados</a:t>
            </a:r>
            <a:endParaRPr lang="en-US" sz="1200" b="1" dirty="0">
              <a:highlight>
                <a:srgbClr val="FFCD00"/>
              </a:highlight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>
                <a:latin typeface="Quattrocento Sans" panose="020B0502050000020003" pitchFamily="34" charset="0"/>
              </a:rPr>
              <a:t>Resultados</a:t>
            </a:r>
            <a:r>
              <a:rPr lang="en-US" sz="1200" dirty="0">
                <a:latin typeface="Quattrocento Sans" panose="020B0502050000020003" pitchFamily="34" charset="0"/>
              </a:rPr>
              <a:t> finales del </a:t>
            </a:r>
            <a:r>
              <a:rPr lang="en-US" sz="1200" dirty="0" err="1">
                <a:latin typeface="Quattrocento Sans" panose="020B0502050000020003" pitchFamily="34" charset="0"/>
              </a:rPr>
              <a:t>modelo</a:t>
            </a:r>
            <a:r>
              <a:rPr lang="en-US" sz="1200" dirty="0">
                <a:latin typeface="Quattrocento Sans" panose="020B0502050000020003" pitchFamily="34" charset="0"/>
              </a:rPr>
              <a:t>: </a:t>
            </a:r>
            <a:r>
              <a:rPr lang="es-CO" sz="1200" dirty="0">
                <a:latin typeface="Quattrocento Sans" panose="020B0502050000020003" pitchFamily="34" charset="0"/>
              </a:rPr>
              <a:t>Precisión</a:t>
            </a:r>
            <a:r>
              <a:rPr lang="en-US" sz="1200" dirty="0">
                <a:latin typeface="Quattrocento Sans" panose="020B0502050000020003" pitchFamily="34" charset="0"/>
              </a:rPr>
              <a:t> del 91 % </a:t>
            </a:r>
            <a:r>
              <a:rPr lang="en-US" sz="1200" dirty="0" err="1">
                <a:latin typeface="Quattrocento Sans" panose="020B0502050000020003" pitchFamily="34" charset="0"/>
              </a:rPr>
              <a:t>en</a:t>
            </a:r>
            <a:r>
              <a:rPr lang="en-US" sz="1200" dirty="0">
                <a:latin typeface="Quattrocento Sans" panose="020B0502050000020003" pitchFamily="34" charset="0"/>
              </a:rPr>
              <a:t> la </a:t>
            </a:r>
            <a:r>
              <a:rPr lang="en-US" sz="1200" dirty="0" err="1">
                <a:latin typeface="Quattrocento Sans" panose="020B0502050000020003" pitchFamily="34" charset="0"/>
              </a:rPr>
              <a:t>clasificación</a:t>
            </a:r>
            <a:r>
              <a:rPr lang="en-US" sz="1200" dirty="0">
                <a:latin typeface="Quattrocento Sans" panose="020B0502050000020003" pitchFamily="34" charset="0"/>
              </a:rPr>
              <a:t> de </a:t>
            </a:r>
            <a:r>
              <a:rPr lang="en-US" sz="1200" dirty="0" err="1">
                <a:latin typeface="Quattrocento Sans" panose="020B0502050000020003" pitchFamily="34" charset="0"/>
              </a:rPr>
              <a:t>adquisición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efectiva</a:t>
            </a:r>
            <a:r>
              <a:rPr lang="en-US" sz="1200" dirty="0">
                <a:latin typeface="Quattrocento Sans" panose="020B0502050000020003" pitchFamily="34" charset="0"/>
              </a:rPr>
              <a:t>.</a:t>
            </a:r>
          </a:p>
        </p:txBody>
      </p:sp>
      <p:sp>
        <p:nvSpPr>
          <p:cNvPr id="623" name="Google Shape;623;p59"/>
          <p:cNvSpPr txBox="1">
            <a:spLocks/>
          </p:cNvSpPr>
          <p:nvPr/>
        </p:nvSpPr>
        <p:spPr>
          <a:xfrm>
            <a:off x="6288578" y="3237224"/>
            <a:ext cx="23340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Distribución</a:t>
            </a:r>
            <a:r>
              <a:rPr lang="en-US" sz="1200" b="1" dirty="0">
                <a:highlight>
                  <a:srgbClr val="FFCD00"/>
                </a:highlight>
                <a:latin typeface="Quattrocento Sans" panose="020B0502050000020003" pitchFamily="34" charset="0"/>
              </a:rPr>
              <a:t> del </a:t>
            </a:r>
            <a:r>
              <a:rPr lang="en-US" sz="1200" b="1" dirty="0" err="1">
                <a:highlight>
                  <a:srgbClr val="FFCD00"/>
                </a:highlight>
                <a:latin typeface="Quattrocento Sans" panose="020B0502050000020003" pitchFamily="34" charset="0"/>
              </a:rPr>
              <a:t>modelo</a:t>
            </a:r>
            <a:endParaRPr lang="en-US" sz="1200" b="1" dirty="0">
              <a:highlight>
                <a:srgbClr val="FFCD00"/>
              </a:highlight>
              <a:latin typeface="Quattrocento Sans" panose="020B05020500000200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 err="1">
                <a:latin typeface="Quattrocento Sans" panose="020B0502050000020003" pitchFamily="34" charset="0"/>
              </a:rPr>
              <a:t>Guardado</a:t>
            </a:r>
            <a:r>
              <a:rPr lang="en-US" sz="1200" dirty="0">
                <a:latin typeface="Quattrocento Sans" panose="020B0502050000020003" pitchFamily="34" charset="0"/>
              </a:rPr>
              <a:t> del </a:t>
            </a:r>
            <a:r>
              <a:rPr lang="en-US" sz="1200" dirty="0" err="1">
                <a:latin typeface="Quattrocento Sans" panose="020B0502050000020003" pitchFamily="34" charset="0"/>
              </a:rPr>
              <a:t>modelo</a:t>
            </a:r>
            <a:r>
              <a:rPr lang="en-US" sz="1200" dirty="0">
                <a:latin typeface="Quattrocento Sans" panose="020B0502050000020003" pitchFamily="34" charset="0"/>
              </a:rPr>
              <a:t> para </a:t>
            </a:r>
            <a:r>
              <a:rPr lang="en-US" sz="1200" dirty="0" err="1">
                <a:latin typeface="Quattrocento Sans" panose="020B0502050000020003" pitchFamily="34" charset="0"/>
              </a:rPr>
              <a:t>su</a:t>
            </a:r>
            <a:r>
              <a:rPr lang="en-US" sz="1200" dirty="0">
                <a:latin typeface="Quattrocento Sans" panose="020B0502050000020003" pitchFamily="34" charset="0"/>
              </a:rPr>
              <a:t> posterior </a:t>
            </a:r>
            <a:r>
              <a:rPr lang="en-US" sz="1200" dirty="0" err="1">
                <a:latin typeface="Quattrocento Sans" panose="020B0502050000020003" pitchFamily="34" charset="0"/>
              </a:rPr>
              <a:t>distribución</a:t>
            </a:r>
            <a:r>
              <a:rPr lang="en-US" sz="1200" dirty="0">
                <a:latin typeface="Quattrocento Sans" panose="020B0502050000020003" pitchFamily="34" charset="0"/>
              </a:rPr>
              <a:t> a </a:t>
            </a:r>
            <a:r>
              <a:rPr lang="en-US" sz="1200" dirty="0" err="1">
                <a:latin typeface="Quattrocento Sans" panose="020B0502050000020003" pitchFamily="34" charset="0"/>
              </a:rPr>
              <a:t>los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demás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miembros</a:t>
            </a:r>
            <a:r>
              <a:rPr lang="en-US" sz="1200" dirty="0">
                <a:latin typeface="Quattrocento Sans" panose="020B0502050000020003" pitchFamily="34" charset="0"/>
              </a:rPr>
              <a:t> del </a:t>
            </a:r>
            <a:r>
              <a:rPr lang="en-US" sz="1200" dirty="0" err="1">
                <a:latin typeface="Quattrocento Sans" panose="020B0502050000020003" pitchFamily="34" charset="0"/>
              </a:rPr>
              <a:t>equipo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en</a:t>
            </a:r>
            <a:r>
              <a:rPr lang="en-US" sz="1200" dirty="0">
                <a:latin typeface="Quattrocento Sans" panose="020B0502050000020003" pitchFamily="34" charset="0"/>
              </a:rPr>
              <a:t> </a:t>
            </a:r>
            <a:r>
              <a:rPr lang="en-US" sz="1200" dirty="0" err="1">
                <a:latin typeface="Quattrocento Sans" panose="020B0502050000020003" pitchFamily="34" charset="0"/>
              </a:rPr>
              <a:t>caso</a:t>
            </a:r>
            <a:r>
              <a:rPr lang="en-US" sz="1200" dirty="0">
                <a:latin typeface="Quattrocento Sans" panose="020B0502050000020003" pitchFamily="34" charset="0"/>
              </a:rPr>
              <a:t> de </a:t>
            </a:r>
            <a:r>
              <a:rPr lang="en-US" sz="1200" dirty="0" err="1">
                <a:latin typeface="Quattrocento Sans" panose="020B0502050000020003" pitchFamily="34" charset="0"/>
              </a:rPr>
              <a:t>necesitarse</a:t>
            </a:r>
            <a:r>
              <a:rPr lang="en-US" sz="1200" dirty="0">
                <a:latin typeface="Quattrocento Sans" panose="020B0502050000020003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40418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7EC9B4F7-42BA-88DA-A4A3-8E52F931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>
            <a:extLst>
              <a:ext uri="{FF2B5EF4-FFF2-40B4-BE49-F238E27FC236}">
                <a16:creationId xmlns:a16="http://schemas.microsoft.com/office/drawing/2014/main" id="{648D944A-3A1D-0A43-A487-2F01877D4B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Despliegue</a:t>
            </a:r>
            <a:endParaRPr dirty="0"/>
          </a:p>
        </p:txBody>
      </p:sp>
      <p:sp>
        <p:nvSpPr>
          <p:cNvPr id="318" name="Google Shape;318;p38">
            <a:extLst>
              <a:ext uri="{FF2B5EF4-FFF2-40B4-BE49-F238E27FC236}">
                <a16:creationId xmlns:a16="http://schemas.microsoft.com/office/drawing/2014/main" id="{6C33EF35-17A0-182B-6EDC-BEBE75592B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Distribución del modelo</a:t>
            </a:r>
            <a:endParaRPr dirty="0"/>
          </a:p>
        </p:txBody>
      </p:sp>
      <p:sp>
        <p:nvSpPr>
          <p:cNvPr id="319" name="Google Shape;319;p38">
            <a:extLst>
              <a:ext uri="{FF2B5EF4-FFF2-40B4-BE49-F238E27FC236}">
                <a16:creationId xmlns:a16="http://schemas.microsoft.com/office/drawing/2014/main" id="{4128EDEF-32C9-09A6-B90B-56BAD9EDF2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879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0260-9046-1ACA-6ECD-9463382E8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ACA82-88AA-4447-45DB-08525B45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Ambiente productivo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CA856C-78A0-1B03-D40F-B5505D5F6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Lectura de datos y modelo.</a:t>
            </a:r>
          </a:p>
          <a:p>
            <a:pPr marL="53340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Preprocesamiento de datos (datos a predecir).</a:t>
            </a:r>
          </a:p>
          <a:p>
            <a:pPr marL="53340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Predicción en datos finales.</a:t>
            </a:r>
          </a:p>
          <a:p>
            <a:pPr marL="53340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000" dirty="0"/>
              <a:t>Simulación de exportación de datos a base de datos SQL.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5B1BE9-CFB6-5D08-E43B-830D42645A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7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5085A9C5-4BCB-E45A-AEF3-44A36A8F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>
            <a:extLst>
              <a:ext uri="{FF2B5EF4-FFF2-40B4-BE49-F238E27FC236}">
                <a16:creationId xmlns:a16="http://schemas.microsoft.com/office/drawing/2014/main" id="{4F264636-CB1D-3B64-EE99-3672DF8DEC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Comentarios</a:t>
            </a:r>
            <a:endParaRPr dirty="0"/>
          </a:p>
        </p:txBody>
      </p:sp>
      <p:sp>
        <p:nvSpPr>
          <p:cNvPr id="318" name="Google Shape;318;p38">
            <a:extLst>
              <a:ext uri="{FF2B5EF4-FFF2-40B4-BE49-F238E27FC236}">
                <a16:creationId xmlns:a16="http://schemas.microsoft.com/office/drawing/2014/main" id="{A455333D-686F-1134-26ED-C5B4915085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Comentarios finales sobre el proceso</a:t>
            </a:r>
            <a:endParaRPr dirty="0"/>
          </a:p>
        </p:txBody>
      </p:sp>
      <p:sp>
        <p:nvSpPr>
          <p:cNvPr id="319" name="Google Shape;319;p38">
            <a:extLst>
              <a:ext uri="{FF2B5EF4-FFF2-40B4-BE49-F238E27FC236}">
                <a16:creationId xmlns:a16="http://schemas.microsoft.com/office/drawing/2014/main" id="{A7E35EEF-3F7A-6084-1D62-016359F815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1682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7"/>
          <p:cNvSpPr txBox="1">
            <a:spLocks noGrp="1"/>
          </p:cNvSpPr>
          <p:nvPr>
            <p:ph type="ctrTitle" idx="4294967295"/>
          </p:nvPr>
        </p:nvSpPr>
        <p:spPr>
          <a:xfrm>
            <a:off x="685800" y="689562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dirty="0"/>
              <a:t>¿El modelo puede mejorar?</a:t>
            </a:r>
          </a:p>
        </p:txBody>
      </p:sp>
      <p:sp>
        <p:nvSpPr>
          <p:cNvPr id="585" name="Google Shape;585;p57"/>
          <p:cNvSpPr txBox="1">
            <a:spLocks noGrp="1"/>
          </p:cNvSpPr>
          <p:nvPr>
            <p:ph type="subTitle" idx="4294967295"/>
          </p:nvPr>
        </p:nvSpPr>
        <p:spPr>
          <a:xfrm>
            <a:off x="685800" y="1355891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O" sz="1800" dirty="0"/>
              <a:t>Seguramente </a:t>
            </a:r>
            <a:r>
              <a:rPr lang="es-CO" sz="1800" dirty="0">
                <a:highlight>
                  <a:srgbClr val="FFCD00"/>
                </a:highlight>
              </a:rPr>
              <a:t>sí</a:t>
            </a:r>
            <a:r>
              <a:rPr lang="es-CO" sz="1800" dirty="0"/>
              <a:t>.</a:t>
            </a:r>
          </a:p>
        </p:txBody>
      </p:sp>
      <p:sp>
        <p:nvSpPr>
          <p:cNvPr id="588" name="Google Shape;588;p57"/>
          <p:cNvSpPr txBox="1">
            <a:spLocks noGrp="1"/>
          </p:cNvSpPr>
          <p:nvPr>
            <p:ph type="ctrTitle" idx="4294967295"/>
          </p:nvPr>
        </p:nvSpPr>
        <p:spPr>
          <a:xfrm>
            <a:off x="685800" y="2004012"/>
            <a:ext cx="77724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dirty="0"/>
              <a:t>¿Cómo?</a:t>
            </a:r>
          </a:p>
        </p:txBody>
      </p:sp>
      <p:sp>
        <p:nvSpPr>
          <p:cNvPr id="589" name="Google Shape;589;p57"/>
          <p:cNvSpPr txBox="1">
            <a:spLocks noGrp="1"/>
          </p:cNvSpPr>
          <p:nvPr>
            <p:ph type="subTitle" idx="4294967295"/>
          </p:nvPr>
        </p:nvSpPr>
        <p:spPr>
          <a:xfrm>
            <a:off x="685800" y="2614921"/>
            <a:ext cx="77724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O" sz="1600" dirty="0"/>
              <a:t>Implementar arquitecturas diferentes o enriquecimiento de datos.</a:t>
            </a:r>
          </a:p>
        </p:txBody>
      </p:sp>
      <p:sp>
        <p:nvSpPr>
          <p:cNvPr id="596" name="Google Shape;596;p57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469" name="Google Shape;4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810" y="1722000"/>
            <a:ext cx="2308890" cy="2308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925" y="1754156"/>
            <a:ext cx="2071387" cy="207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2714" y="344929"/>
            <a:ext cx="752390" cy="752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7031" y="1989883"/>
            <a:ext cx="644736" cy="64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49625" y="3287050"/>
            <a:ext cx="698575" cy="69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77027" y="2718517"/>
            <a:ext cx="644736" cy="64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76539" y="1213874"/>
            <a:ext cx="644736" cy="644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6"/>
          <p:cNvSpPr txBox="1">
            <a:spLocks noGrp="1"/>
          </p:cNvSpPr>
          <p:nvPr>
            <p:ph type="ctrTitle" idx="4294967295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highlight>
                  <a:srgbClr val="FFCD00"/>
                </a:highlight>
              </a:rPr>
              <a:t>89.7 %</a:t>
            </a:r>
            <a:endParaRPr sz="9600" dirty="0">
              <a:highlight>
                <a:srgbClr val="FFCD00"/>
              </a:highlight>
            </a:endParaRPr>
          </a:p>
        </p:txBody>
      </p:sp>
      <p:sp>
        <p:nvSpPr>
          <p:cNvPr id="572" name="Google Shape;572;p56"/>
          <p:cNvSpPr txBox="1">
            <a:spLocks noGrp="1"/>
          </p:cNvSpPr>
          <p:nvPr>
            <p:ph type="subTitle" idx="4294967295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/>
              <a:t>D</a:t>
            </a:r>
            <a:r>
              <a:rPr lang="en" sz="1800" dirty="0"/>
              <a:t>e precisión en la clasificación de adquisición de tarjetas de crédito.</a:t>
            </a:r>
            <a:endParaRPr sz="1800" dirty="0"/>
          </a:p>
        </p:txBody>
      </p:sp>
      <p:sp>
        <p:nvSpPr>
          <p:cNvPr id="579" name="Google Shape;579;p56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379" name="Google Shape;379;p41"/>
          <p:cNvSpPr txBox="1"/>
          <p:nvPr/>
        </p:nvSpPr>
        <p:spPr>
          <a:xfrm>
            <a:off x="2371500" y="2093775"/>
            <a:ext cx="5836200" cy="16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 b="1" i="1" dirty="0">
                <a:latin typeface="Lora"/>
                <a:ea typeface="Lora"/>
                <a:cs typeface="Lora"/>
                <a:sym typeface="Lora"/>
              </a:rPr>
              <a:t>Alejandro </a:t>
            </a:r>
            <a:r>
              <a:rPr lang="en" sz="3000" b="1" i="1" dirty="0">
                <a:highlight>
                  <a:srgbClr val="FFCD00"/>
                </a:highlight>
                <a:latin typeface="Lora"/>
                <a:ea typeface="Lora"/>
                <a:cs typeface="Lora"/>
                <a:sym typeface="Lora"/>
              </a:rPr>
              <a:t>Montenegro Taborda</a:t>
            </a:r>
            <a:endParaRPr sz="3000" b="1" i="1" dirty="0">
              <a:highlight>
                <a:srgbClr val="FFCD00"/>
              </a:highlight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O" sz="1800" dirty="0">
                <a:latin typeface="Quattrocento Sans"/>
                <a:ea typeface="Quattrocento Sans"/>
                <a:cs typeface="Quattrocento Sans"/>
                <a:sym typeface="Quattrocento Sans"/>
              </a:rPr>
              <a:t>Candidato</a:t>
            </a:r>
            <a:endParaRPr sz="1800" dirty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amontenegrot</a:t>
            </a:r>
            <a:r>
              <a:rPr lang="en-US" sz="180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@outlook.com</a:t>
            </a:r>
            <a:endParaRPr sz="1800" dirty="0">
              <a:solidFill>
                <a:srgbClr val="000000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1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0" name="Google Shape;380;p41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1" name="Google Shape;381;p41"/>
          <p:cNvPicPr preferRelativeResize="0"/>
          <p:nvPr/>
        </p:nvPicPr>
        <p:blipFill rotWithShape="1">
          <a:blip r:embed="rId3">
            <a:alphaModFix/>
          </a:blip>
          <a:srcRect l="-5163" t="-5174" r="-5174" b="-5163"/>
          <a:stretch/>
        </p:blipFill>
        <p:spPr>
          <a:xfrm>
            <a:off x="834600" y="861898"/>
            <a:ext cx="1133700" cy="1133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2" name="Google Shape;382;p41"/>
          <p:cNvSpPr txBox="1"/>
          <p:nvPr/>
        </p:nvSpPr>
        <p:spPr>
          <a:xfrm>
            <a:off x="2371625" y="816550"/>
            <a:ext cx="49080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b="1">
                <a:latin typeface="Lora"/>
                <a:ea typeface="Lora"/>
                <a:cs typeface="Lora"/>
                <a:sym typeface="Lora"/>
              </a:rPr>
              <a:t>¡Gracias!</a:t>
            </a:r>
            <a:endParaRPr sz="4100" b="1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83" name="Google Shape;383;p41"/>
          <p:cNvCxnSpPr/>
          <p:nvPr/>
        </p:nvCxnSpPr>
        <p:spPr>
          <a:xfrm>
            <a:off x="4738400" y="1428750"/>
            <a:ext cx="4405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993</Words>
  <Application>Microsoft Office PowerPoint</Application>
  <PresentationFormat>Presentación en pantalla (16:9)</PresentationFormat>
  <Paragraphs>197</Paragraphs>
  <Slides>37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Lora</vt:lpstr>
      <vt:lpstr>Arial</vt:lpstr>
      <vt:lpstr>Quattrocento Sans</vt:lpstr>
      <vt:lpstr>Viola template</vt:lpstr>
      <vt:lpstr>Viola template</vt:lpstr>
      <vt:lpstr>Presentación de resultados: prueba Científico de datos SemiSenior</vt:lpstr>
      <vt:lpstr>Propósitos </vt:lpstr>
      <vt:lpstr>Propósitos</vt:lpstr>
      <vt:lpstr>Contextualización</vt:lpstr>
      <vt:lpstr>Caso Compañía A</vt:lpstr>
      <vt:lpstr>Conjunto de datos (cat.)</vt:lpstr>
      <vt:lpstr>Conjunto de datos (núm.)</vt:lpstr>
      <vt:lpstr>Presentación de PowerPoint</vt:lpstr>
      <vt:lpstr>Presentación de PowerPoint</vt:lpstr>
      <vt:lpstr>Etapa de diseño</vt:lpstr>
      <vt:lpstr>Aspectos tenidos en cuenta</vt:lpstr>
      <vt:lpstr>Presentación de PowerPoint</vt:lpstr>
      <vt:lpstr>Procesos llevados a cabo</vt:lpstr>
      <vt:lpstr>Descripción general</vt:lpstr>
      <vt:lpstr>Descripción general</vt:lpstr>
      <vt:lpstr>Descripción general</vt:lpstr>
      <vt:lpstr>Descripción general</vt:lpstr>
      <vt:lpstr>Descripción general</vt:lpstr>
      <vt:lpstr>Limpieza de datos</vt:lpstr>
      <vt:lpstr>Limpieza de datos</vt:lpstr>
      <vt:lpstr>EDA</vt:lpstr>
      <vt:lpstr>Presentación de PowerPoint</vt:lpstr>
      <vt:lpstr>Presentación de PowerPoint</vt:lpstr>
      <vt:lpstr>Dataviz</vt:lpstr>
      <vt:lpstr>Visualización EDA</vt:lpstr>
      <vt:lpstr>Presentación de PowerPoint</vt:lpstr>
      <vt:lpstr>Preprocesamiento</vt:lpstr>
      <vt:lpstr>Innovación y explotación</vt:lpstr>
      <vt:lpstr>Modelo</vt:lpstr>
      <vt:lpstr>AutoML y Modelo</vt:lpstr>
      <vt:lpstr>Despliegue</vt:lpstr>
      <vt:lpstr>Ambiente productivo</vt:lpstr>
      <vt:lpstr>Comentarios</vt:lpstr>
      <vt:lpstr>¿El modelo puede mejorar?</vt:lpstr>
      <vt:lpstr>Presentación de PowerPoint</vt:lpstr>
      <vt:lpstr>89.7 %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cp:lastModifiedBy>Alejandro Montenegro Taborda</cp:lastModifiedBy>
  <cp:revision>26</cp:revision>
  <dcterms:modified xsi:type="dcterms:W3CDTF">2024-05-02T21:50:52Z</dcterms:modified>
</cp:coreProperties>
</file>